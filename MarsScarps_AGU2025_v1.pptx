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1"/>
  </p:notesMasterIdLst>
  <p:sldIdLst>
    <p:sldId id="256" r:id="rId2"/>
    <p:sldId id="502" r:id="rId3"/>
    <p:sldId id="513" r:id="rId4"/>
    <p:sldId id="258" r:id="rId5"/>
    <p:sldId id="259" r:id="rId6"/>
    <p:sldId id="292" r:id="rId7"/>
    <p:sldId id="514" r:id="rId8"/>
    <p:sldId id="516" r:id="rId9"/>
    <p:sldId id="51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291"/>
    <a:srgbClr val="D1BC8A"/>
    <a:srgbClr val="E1D100"/>
    <a:srgbClr val="BF69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50"/>
    <p:restoredTop sz="96250"/>
  </p:normalViewPr>
  <p:slideViewPr>
    <p:cSldViewPr snapToGrid="0" snapToObjects="1">
      <p:cViewPr>
        <p:scale>
          <a:sx n="120" d="100"/>
          <a:sy n="120" d="100"/>
        </p:scale>
        <p:origin x="94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433F1-0FAB-E740-88C5-5AA50772D811}" type="datetimeFigureOut">
              <a:rPr lang="en-US" smtClean="0"/>
              <a:t>12/12/25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3AE65-CDB2-6D4D-A07B-43551E7A9C0B}" type="slidenum">
              <a:rPr lang="en-US" smtClean="0"/>
              <a:t>‹#›</a:t>
            </a:fld>
            <a:endParaRPr lang="en-US"/>
          </a:p>
        </p:txBody>
      </p:sp>
    </p:spTree>
    <p:extLst>
      <p:ext uri="{BB962C8B-B14F-4D97-AF65-F5344CB8AC3E}">
        <p14:creationId xmlns:p14="http://schemas.microsoft.com/office/powerpoint/2010/main" val="2300223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could use fig 6 from Dundas et al. 2021 for brighter blue on scarp face</a:t>
            </a:r>
          </a:p>
        </p:txBody>
      </p:sp>
      <p:sp>
        <p:nvSpPr>
          <p:cNvPr id="4" name="Slide Number Placeholder 3"/>
          <p:cNvSpPr>
            <a:spLocks noGrp="1"/>
          </p:cNvSpPr>
          <p:nvPr>
            <p:ph type="sldNum" sz="quarter" idx="5"/>
          </p:nvPr>
        </p:nvSpPr>
        <p:spPr/>
        <p:txBody>
          <a:bodyPr/>
          <a:lstStyle/>
          <a:p>
            <a:fld id="{1743AE65-CDB2-6D4D-A07B-43551E7A9C0B}" type="slidenum">
              <a:rPr lang="en-US" smtClean="0"/>
              <a:t>1</a:t>
            </a:fld>
            <a:endParaRPr lang="en-US"/>
          </a:p>
        </p:txBody>
      </p:sp>
    </p:spTree>
    <p:extLst>
      <p:ext uri="{BB962C8B-B14F-4D97-AF65-F5344CB8AC3E}">
        <p14:creationId xmlns:p14="http://schemas.microsoft.com/office/powerpoint/2010/main" val="125453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51327B-8E4B-2340-BC7A-805E3D0A47C1}" type="slidenum">
              <a:rPr lang="en-US" smtClean="0"/>
              <a:t>2</a:t>
            </a:fld>
            <a:endParaRPr lang="en-US"/>
          </a:p>
        </p:txBody>
      </p:sp>
    </p:spTree>
    <p:extLst>
      <p:ext uri="{BB962C8B-B14F-4D97-AF65-F5344CB8AC3E}">
        <p14:creationId xmlns:p14="http://schemas.microsoft.com/office/powerpoint/2010/main" val="461378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also use fig 1 from https://</a:t>
            </a:r>
            <a:r>
              <a:rPr lang="en-US" dirty="0" err="1"/>
              <a:t>iopscience.iop.org</a:t>
            </a:r>
            <a:r>
              <a:rPr lang="en-US" dirty="0"/>
              <a:t>/article/10.3847/PSJ/ad9b24#psjad9b24f1</a:t>
            </a:r>
          </a:p>
        </p:txBody>
      </p:sp>
      <p:sp>
        <p:nvSpPr>
          <p:cNvPr id="4" name="Slide Number Placeholder 3"/>
          <p:cNvSpPr>
            <a:spLocks noGrp="1"/>
          </p:cNvSpPr>
          <p:nvPr>
            <p:ph type="sldNum" sz="quarter" idx="5"/>
          </p:nvPr>
        </p:nvSpPr>
        <p:spPr/>
        <p:txBody>
          <a:bodyPr/>
          <a:lstStyle/>
          <a:p>
            <a:fld id="{1743AE65-CDB2-6D4D-A07B-43551E7A9C0B}" type="slidenum">
              <a:rPr lang="en-US" smtClean="0"/>
              <a:t>3</a:t>
            </a:fld>
            <a:endParaRPr lang="en-US"/>
          </a:p>
        </p:txBody>
      </p:sp>
    </p:spTree>
    <p:extLst>
      <p:ext uri="{BB962C8B-B14F-4D97-AF65-F5344CB8AC3E}">
        <p14:creationId xmlns:p14="http://schemas.microsoft.com/office/powerpoint/2010/main" val="299520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options are place-holders, either topo profile showing ridges or a 3D view</a:t>
            </a:r>
          </a:p>
        </p:txBody>
      </p:sp>
      <p:sp>
        <p:nvSpPr>
          <p:cNvPr id="4" name="Slide Number Placeholder 3"/>
          <p:cNvSpPr>
            <a:spLocks noGrp="1"/>
          </p:cNvSpPr>
          <p:nvPr>
            <p:ph type="sldNum" sz="quarter" idx="5"/>
          </p:nvPr>
        </p:nvSpPr>
        <p:spPr/>
        <p:txBody>
          <a:bodyPr/>
          <a:lstStyle/>
          <a:p>
            <a:fld id="{1743AE65-CDB2-6D4D-A07B-43551E7A9C0B}" type="slidenum">
              <a:rPr lang="en-US" smtClean="0"/>
              <a:t>4</a:t>
            </a:fld>
            <a:endParaRPr lang="en-US"/>
          </a:p>
        </p:txBody>
      </p:sp>
    </p:spTree>
    <p:extLst>
      <p:ext uri="{BB962C8B-B14F-4D97-AF65-F5344CB8AC3E}">
        <p14:creationId xmlns:p14="http://schemas.microsoft.com/office/powerpoint/2010/main" val="1116046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43AE65-CDB2-6D4D-A07B-43551E7A9C0B}" type="slidenum">
              <a:rPr lang="en-US" smtClean="0"/>
              <a:t>6</a:t>
            </a:fld>
            <a:endParaRPr lang="en-US"/>
          </a:p>
        </p:txBody>
      </p:sp>
    </p:spTree>
    <p:extLst>
      <p:ext uri="{BB962C8B-B14F-4D97-AF65-F5344CB8AC3E}">
        <p14:creationId xmlns:p14="http://schemas.microsoft.com/office/powerpoint/2010/main" val="2132805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Younger b/c Williams presumed a constant retreat rate. </a:t>
            </a:r>
          </a:p>
        </p:txBody>
      </p:sp>
      <p:sp>
        <p:nvSpPr>
          <p:cNvPr id="4" name="Slide Number Placeholder 3"/>
          <p:cNvSpPr>
            <a:spLocks noGrp="1"/>
          </p:cNvSpPr>
          <p:nvPr>
            <p:ph type="sldNum" sz="quarter" idx="5"/>
          </p:nvPr>
        </p:nvSpPr>
        <p:spPr/>
        <p:txBody>
          <a:bodyPr/>
          <a:lstStyle/>
          <a:p>
            <a:fld id="{1743AE65-CDB2-6D4D-A07B-43551E7A9C0B}" type="slidenum">
              <a:rPr lang="en-US" smtClean="0"/>
              <a:t>7</a:t>
            </a:fld>
            <a:endParaRPr lang="en-US"/>
          </a:p>
        </p:txBody>
      </p:sp>
    </p:spTree>
    <p:extLst>
      <p:ext uri="{BB962C8B-B14F-4D97-AF65-F5344CB8AC3E}">
        <p14:creationId xmlns:p14="http://schemas.microsoft.com/office/powerpoint/2010/main" val="2436049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Younger b/c Williams presumed a constant retreat rate. </a:t>
            </a:r>
          </a:p>
        </p:txBody>
      </p:sp>
      <p:sp>
        <p:nvSpPr>
          <p:cNvPr id="4" name="Slide Number Placeholder 3"/>
          <p:cNvSpPr>
            <a:spLocks noGrp="1"/>
          </p:cNvSpPr>
          <p:nvPr>
            <p:ph type="sldNum" sz="quarter" idx="5"/>
          </p:nvPr>
        </p:nvSpPr>
        <p:spPr/>
        <p:txBody>
          <a:bodyPr/>
          <a:lstStyle/>
          <a:p>
            <a:fld id="{1743AE65-CDB2-6D4D-A07B-43551E7A9C0B}" type="slidenum">
              <a:rPr lang="en-US" smtClean="0"/>
              <a:t>8</a:t>
            </a:fld>
            <a:endParaRPr lang="en-US"/>
          </a:p>
        </p:txBody>
      </p:sp>
    </p:spTree>
    <p:extLst>
      <p:ext uri="{BB962C8B-B14F-4D97-AF65-F5344CB8AC3E}">
        <p14:creationId xmlns:p14="http://schemas.microsoft.com/office/powerpoint/2010/main" val="2330786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Ali M. Bramson (BramsonA@purdue.edu)  •   Title   •   AGU 2025 New Orleans   •   Date</a:t>
            </a:r>
          </a:p>
        </p:txBody>
      </p:sp>
      <p:sp>
        <p:nvSpPr>
          <p:cNvPr id="6" name="Slide Number Placeholder 5"/>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588170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E24C8CC-B570-DF70-FA2F-3D52C71617E7}"/>
              </a:ext>
            </a:extLst>
          </p:cNvPr>
          <p:cNvSpPr/>
          <p:nvPr userDrawn="1"/>
        </p:nvSpPr>
        <p:spPr>
          <a:xfrm>
            <a:off x="0" y="6484798"/>
            <a:ext cx="12192000" cy="373202"/>
          </a:xfrm>
          <a:prstGeom prst="rect">
            <a:avLst/>
          </a:prstGeom>
          <a:solidFill>
            <a:srgbClr val="0052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1277" y="136525"/>
            <a:ext cx="11869445" cy="1096325"/>
          </a:xfrm>
        </p:spPr>
        <p:txBody>
          <a:bodyPr/>
          <a:lstStyle>
            <a:lvl1pPr algn="ct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161276" y="1450428"/>
            <a:ext cx="11869445" cy="48137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484798"/>
            <a:ext cx="12192000" cy="347036"/>
          </a:xfrm>
        </p:spPr>
        <p:txBody>
          <a:bodyPr/>
          <a:lstStyle/>
          <a:p>
            <a:r>
              <a:rPr lang="en-US"/>
              <a:t>Ali M. Bramson (BramsonA@purdue.edu)  •   Title   •   AGU 2025 New Orleans   •   Date</a:t>
            </a:r>
            <a:endParaRPr lang="en-US" dirty="0"/>
          </a:p>
        </p:txBody>
      </p:sp>
    </p:spTree>
    <p:extLst>
      <p:ext uri="{BB962C8B-B14F-4D97-AF65-F5344CB8AC3E}">
        <p14:creationId xmlns:p14="http://schemas.microsoft.com/office/powerpoint/2010/main" val="2618970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Ali M. Bramson (BramsonA@purdue.edu)  •   Title   •   AGU 2025 New Orleans   •   Date</a:t>
            </a:r>
          </a:p>
        </p:txBody>
      </p:sp>
      <p:sp>
        <p:nvSpPr>
          <p:cNvPr id="6" name="Slide Number Placeholder 5"/>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1973313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Ali M. Bramson (BramsonA@purdue.edu)  •   Title   •   AGU 2025 New Orleans   •   Date</a:t>
            </a:r>
          </a:p>
        </p:txBody>
      </p:sp>
      <p:sp>
        <p:nvSpPr>
          <p:cNvPr id="7" name="Slide Number Placeholder 6"/>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4159311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Ali M. Bramson (BramsonA@purdue.edu)  •   Title   •   AGU 2025 New Orleans   •   Date</a:t>
            </a:r>
          </a:p>
        </p:txBody>
      </p:sp>
      <p:sp>
        <p:nvSpPr>
          <p:cNvPr id="9" name="Slide Number Placeholder 8"/>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3996227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Ali M. Bramson (BramsonA@purdue.edu)  •   Title   •   AGU 2025 New Orleans   •   Date</a:t>
            </a:r>
          </a:p>
        </p:txBody>
      </p:sp>
      <p:sp>
        <p:nvSpPr>
          <p:cNvPr id="5" name="Slide Number Placeholder 4"/>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3637221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Ali M. Bramson (BramsonA@purdue.edu)  •   Title   •   AGU 2025 New Orleans   •   Date</a:t>
            </a:r>
          </a:p>
        </p:txBody>
      </p:sp>
      <p:sp>
        <p:nvSpPr>
          <p:cNvPr id="4" name="Slide Number Placeholder 3"/>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192219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Ali M. Bramson (BramsonA@purdue.edu)  •   Title   •   AGU 2025 New Orleans   •   Date</a:t>
            </a:r>
          </a:p>
        </p:txBody>
      </p:sp>
      <p:sp>
        <p:nvSpPr>
          <p:cNvPr id="7" name="Slide Number Placeholder 6"/>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2808713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Ali M. Bramson (BramsonA@purdue.edu)  •   Title   •   AGU 2025 New Orleans   •   Date</a:t>
            </a:r>
          </a:p>
        </p:txBody>
      </p:sp>
      <p:sp>
        <p:nvSpPr>
          <p:cNvPr id="7" name="Slide Number Placeholder 6"/>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3966604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Ali M. Bramson (BramsonA@purdue.edu)  •   Title   •   AGU 2025 New Orleans   •   Date</a:t>
            </a:r>
          </a:p>
        </p:txBody>
      </p:sp>
      <p:sp>
        <p:nvSpPr>
          <p:cNvPr id="6" name="Slide Number Placeholder 5"/>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504754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Ali M. Bramson (BramsonA@purdue.edu)  •   Title   •   AGU 2025 New Orleans   •   Date</a:t>
            </a:r>
          </a:p>
        </p:txBody>
      </p:sp>
      <p:sp>
        <p:nvSpPr>
          <p:cNvPr id="6" name="Slide Number Placeholder 5"/>
          <p:cNvSpPr>
            <a:spLocks noGrp="1"/>
          </p:cNvSpPr>
          <p:nvPr>
            <p:ph type="sldNum" sz="quarter" idx="12"/>
          </p:nvPr>
        </p:nvSpPr>
        <p:spPr/>
        <p:txBody>
          <a:bodyPr/>
          <a:lstStyle/>
          <a:p>
            <a:fld id="{063D8C02-AE60-224D-9D95-E51519ABC4A7}" type="slidenum">
              <a:rPr lang="en-US" smtClean="0"/>
              <a:t>‹#›</a:t>
            </a:fld>
            <a:endParaRPr lang="en-US"/>
          </a:p>
        </p:txBody>
      </p:sp>
    </p:spTree>
    <p:extLst>
      <p:ext uri="{BB962C8B-B14F-4D97-AF65-F5344CB8AC3E}">
        <p14:creationId xmlns:p14="http://schemas.microsoft.com/office/powerpoint/2010/main" val="3185854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1277" y="136525"/>
            <a:ext cx="1186944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1276" y="1597981"/>
            <a:ext cx="11869445" cy="45789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2019" y="6361297"/>
            <a:ext cx="27432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a:t>Ali M. Bramson (BramsonA@purdue.edu)  •   Title   •   AGU 2025 New Orleans   •   Date</a:t>
            </a:r>
            <a:endParaRPr lang="en-US" dirty="0"/>
          </a:p>
        </p:txBody>
      </p:sp>
      <p:sp>
        <p:nvSpPr>
          <p:cNvPr id="6" name="Slide Number Placeholder 5"/>
          <p:cNvSpPr>
            <a:spLocks noGrp="1"/>
          </p:cNvSpPr>
          <p:nvPr>
            <p:ph type="sldNum" sz="quarter" idx="4"/>
          </p:nvPr>
        </p:nvSpPr>
        <p:spPr>
          <a:xfrm>
            <a:off x="9286781"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063D8C02-AE60-224D-9D95-E51519ABC4A7}" type="slidenum">
              <a:rPr lang="en-US" smtClean="0"/>
              <a:pPr/>
              <a:t>‹#›</a:t>
            </a:fld>
            <a:endParaRPr lang="en-US" dirty="0"/>
          </a:p>
        </p:txBody>
      </p:sp>
    </p:spTree>
    <p:extLst>
      <p:ext uri="{BB962C8B-B14F-4D97-AF65-F5344CB8AC3E}">
        <p14:creationId xmlns:p14="http://schemas.microsoft.com/office/powerpoint/2010/main" val="134683536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3BB9-23BB-3040-B4DC-C8614B915D00}"/>
              </a:ext>
            </a:extLst>
          </p:cNvPr>
          <p:cNvSpPr>
            <a:spLocks noGrp="1"/>
          </p:cNvSpPr>
          <p:nvPr>
            <p:ph type="ctrTitle"/>
          </p:nvPr>
        </p:nvSpPr>
        <p:spPr>
          <a:xfrm>
            <a:off x="278524" y="2282366"/>
            <a:ext cx="11634952" cy="3039734"/>
          </a:xfrm>
        </p:spPr>
        <p:txBody>
          <a:bodyPr>
            <a:normAutofit fontScale="90000"/>
          </a:bodyPr>
          <a:lstStyle/>
          <a:p>
            <a:pPr rtl="0">
              <a:spcBef>
                <a:spcPts val="0"/>
              </a:spcBef>
              <a:spcAft>
                <a:spcPts val="0"/>
              </a:spcAft>
            </a:pPr>
            <a:r>
              <a:rPr lang="en-US" dirty="0">
                <a:latin typeface="Arial" panose="020B0604020202020204" pitchFamily="34" charset="0"/>
                <a:cs typeface="Arial" panose="020B0604020202020204" pitchFamily="34" charset="0"/>
              </a:rPr>
              <a:t>Ages of Mars’ Mid-Latitude Ice Exposing Scarps and Relating Ridge Morphology to Climate Cycles</a:t>
            </a:r>
            <a:endParaRPr lang="en-US" dirty="0">
              <a:solidFill>
                <a:srgbClr val="FF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DD67B479-BB18-4349-9C3D-55E4DF2EF0AA}"/>
              </a:ext>
            </a:extLst>
          </p:cNvPr>
          <p:cNvSpPr>
            <a:spLocks noGrp="1"/>
          </p:cNvSpPr>
          <p:nvPr>
            <p:ph type="subTitle" idx="1"/>
          </p:nvPr>
        </p:nvSpPr>
        <p:spPr>
          <a:xfrm>
            <a:off x="1533194" y="5407612"/>
            <a:ext cx="9144000" cy="1364875"/>
          </a:xfrm>
        </p:spPr>
        <p:txBody>
          <a:bodyPr>
            <a:normAutofit/>
          </a:bodyPr>
          <a:lstStyle/>
          <a:p>
            <a:r>
              <a:rPr lang="en-US" dirty="0"/>
              <a:t>Prof. Ali M. Bramson</a:t>
            </a:r>
          </a:p>
          <a:p>
            <a:r>
              <a:rPr lang="en-US" sz="2000" dirty="0"/>
              <a:t>Laura S. </a:t>
            </a:r>
            <a:r>
              <a:rPr lang="en-US" sz="2000" b="0" i="0" u="none" strike="noStrike" dirty="0">
                <a:effectLst/>
                <a:latin typeface="Arial" panose="020B0604020202020204" pitchFamily="34" charset="0"/>
              </a:rPr>
              <a:t>Pérez </a:t>
            </a:r>
            <a:r>
              <a:rPr lang="en-US" sz="2000" b="0" i="0" u="none" strike="noStrike" dirty="0" err="1">
                <a:effectLst/>
                <a:latin typeface="Arial" panose="020B0604020202020204" pitchFamily="34" charset="0"/>
              </a:rPr>
              <a:t>Mancipe</a:t>
            </a:r>
            <a:r>
              <a:rPr lang="en-US" sz="2000" b="0" i="0" u="none" strike="noStrike" dirty="0">
                <a:effectLst/>
                <a:latin typeface="Arial" panose="020B0604020202020204" pitchFamily="34" charset="0"/>
              </a:rPr>
              <a:t>, Kris L. Laferriere, David M. H. Baker</a:t>
            </a:r>
          </a:p>
          <a:p>
            <a:r>
              <a:rPr lang="en-US" b="0" dirty="0">
                <a:effectLst/>
              </a:rPr>
              <a:t>Purdue University</a:t>
            </a:r>
            <a:endParaRPr lang="en-US" b="0" dirty="0">
              <a:solidFill>
                <a:srgbClr val="FF0000"/>
              </a:solidFill>
              <a:effectLst/>
            </a:endParaRPr>
          </a:p>
        </p:txBody>
      </p:sp>
      <p:pic>
        <p:nvPicPr>
          <p:cNvPr id="4" name="Content Placeholder 4">
            <a:extLst>
              <a:ext uri="{FF2B5EF4-FFF2-40B4-BE49-F238E27FC236}">
                <a16:creationId xmlns:a16="http://schemas.microsoft.com/office/drawing/2014/main" id="{EB19851D-9C27-6C3D-CC09-D0E5874D5A05}"/>
              </a:ext>
            </a:extLst>
          </p:cNvPr>
          <p:cNvPicPr>
            <a:picLocks noChangeAspect="1"/>
          </p:cNvPicPr>
          <p:nvPr/>
        </p:nvPicPr>
        <p:blipFill rotWithShape="1">
          <a:blip r:embed="rId3"/>
          <a:srcRect l="9762" t="9897" r="6667" b="7484"/>
          <a:stretch/>
        </p:blipFill>
        <p:spPr>
          <a:xfrm>
            <a:off x="47228" y="4950372"/>
            <a:ext cx="1929618" cy="1907628"/>
          </a:xfrm>
          <a:prstGeom prst="rect">
            <a:avLst/>
          </a:prstGeom>
        </p:spPr>
      </p:pic>
      <p:pic>
        <p:nvPicPr>
          <p:cNvPr id="9" name="Picture 8">
            <a:extLst>
              <a:ext uri="{FF2B5EF4-FFF2-40B4-BE49-F238E27FC236}">
                <a16:creationId xmlns:a16="http://schemas.microsoft.com/office/drawing/2014/main" id="{A9A16770-52C7-77BD-5D23-FA6842252279}"/>
              </a:ext>
            </a:extLst>
          </p:cNvPr>
          <p:cNvPicPr>
            <a:picLocks noChangeAspect="1"/>
          </p:cNvPicPr>
          <p:nvPr/>
        </p:nvPicPr>
        <p:blipFill rotWithShape="1">
          <a:blip r:embed="rId4"/>
          <a:srcRect l="1260" t="35359" r="1149" b="19840"/>
          <a:stretch/>
        </p:blipFill>
        <p:spPr>
          <a:xfrm>
            <a:off x="0" y="-17315"/>
            <a:ext cx="12210389" cy="3039734"/>
          </a:xfrm>
          <a:prstGeom prst="rect">
            <a:avLst/>
          </a:prstGeom>
        </p:spPr>
      </p:pic>
      <p:sp>
        <p:nvSpPr>
          <p:cNvPr id="11" name="TextBox 10">
            <a:extLst>
              <a:ext uri="{FF2B5EF4-FFF2-40B4-BE49-F238E27FC236}">
                <a16:creationId xmlns:a16="http://schemas.microsoft.com/office/drawing/2014/main" id="{15EF195B-BD6F-7FAC-1FD3-E8A0997DD715}"/>
              </a:ext>
            </a:extLst>
          </p:cNvPr>
          <p:cNvSpPr txBox="1"/>
          <p:nvPr/>
        </p:nvSpPr>
        <p:spPr>
          <a:xfrm>
            <a:off x="47228" y="14624"/>
            <a:ext cx="4493241" cy="338554"/>
          </a:xfrm>
          <a:prstGeom prst="rect">
            <a:avLst/>
          </a:prstGeom>
          <a:noFill/>
        </p:spPr>
        <p:txBody>
          <a:bodyPr wrap="square" rtlCol="0">
            <a:spAutoFit/>
          </a:bodyPr>
          <a:lstStyle/>
          <a:p>
            <a:r>
              <a:rPr lang="en-US" sz="1600" dirty="0">
                <a:solidFill>
                  <a:schemeClr val="tx1">
                    <a:lumMod val="95000"/>
                  </a:schemeClr>
                </a:solidFill>
                <a:latin typeface="Arial" panose="020B0604020202020204" pitchFamily="34" charset="0"/>
                <a:cs typeface="Arial" panose="020B0604020202020204" pitchFamily="34" charset="0"/>
              </a:rPr>
              <a:t>HIRISE </a:t>
            </a:r>
            <a:r>
              <a:rPr lang="en-US" sz="1600" b="0" i="0" dirty="0">
                <a:solidFill>
                  <a:schemeClr val="tx1">
                    <a:lumMod val="95000"/>
                  </a:schemeClr>
                </a:solidFill>
                <a:effectLst/>
                <a:latin typeface="Arial" panose="020B0604020202020204" pitchFamily="34" charset="0"/>
                <a:cs typeface="Arial" panose="020B0604020202020204" pitchFamily="34" charset="0"/>
              </a:rPr>
              <a:t>ESP_058971_1230</a:t>
            </a:r>
            <a:endParaRPr lang="en-US" sz="1600" dirty="0">
              <a:solidFill>
                <a:schemeClr val="tx1">
                  <a:lumMod val="9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5021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B157B192-4B73-1246-A3E1-DF6BEE988C0C}"/>
              </a:ext>
            </a:extLst>
          </p:cNvPr>
          <p:cNvGrpSpPr/>
          <p:nvPr/>
        </p:nvGrpSpPr>
        <p:grpSpPr>
          <a:xfrm>
            <a:off x="7453642" y="3024269"/>
            <a:ext cx="4662840" cy="3439098"/>
            <a:chOff x="4718450" y="3493412"/>
            <a:chExt cx="4241989" cy="3181492"/>
          </a:xfrm>
        </p:grpSpPr>
        <p:pic>
          <p:nvPicPr>
            <p:cNvPr id="29" name="Picture 28">
              <a:extLst>
                <a:ext uri="{FF2B5EF4-FFF2-40B4-BE49-F238E27FC236}">
                  <a16:creationId xmlns:a16="http://schemas.microsoft.com/office/drawing/2014/main" id="{574FAD57-1EE8-E341-AB1B-E34AE4C205DE}"/>
                </a:ext>
              </a:extLst>
            </p:cNvPr>
            <p:cNvPicPr>
              <a:picLocks noChangeAspect="1"/>
            </p:cNvPicPr>
            <p:nvPr/>
          </p:nvPicPr>
          <p:blipFill>
            <a:blip r:embed="rId3"/>
            <a:stretch>
              <a:fillRect/>
            </a:stretch>
          </p:blipFill>
          <p:spPr>
            <a:xfrm>
              <a:off x="4718450" y="3493412"/>
              <a:ext cx="4241989" cy="3181492"/>
            </a:xfrm>
            <a:prstGeom prst="rect">
              <a:avLst/>
            </a:prstGeom>
          </p:spPr>
        </p:pic>
        <p:cxnSp>
          <p:nvCxnSpPr>
            <p:cNvPr id="45" name="Straight Connector 44">
              <a:extLst>
                <a:ext uri="{FF2B5EF4-FFF2-40B4-BE49-F238E27FC236}">
                  <a16:creationId xmlns:a16="http://schemas.microsoft.com/office/drawing/2014/main" id="{9C428D9F-BCBD-1246-8C95-C7DA32D4FB77}"/>
                </a:ext>
              </a:extLst>
            </p:cNvPr>
            <p:cNvCxnSpPr>
              <a:cxnSpLocks/>
            </p:cNvCxnSpPr>
            <p:nvPr/>
          </p:nvCxnSpPr>
          <p:spPr>
            <a:xfrm flipV="1">
              <a:off x="7743124" y="4562326"/>
              <a:ext cx="118255" cy="54525"/>
            </a:xfrm>
            <a:prstGeom prst="line">
              <a:avLst/>
            </a:prstGeom>
            <a:ln w="19050">
              <a:gradFill flip="none" rotWithShape="1">
                <a:gsLst>
                  <a:gs pos="0">
                    <a:schemeClr val="accent1">
                      <a:lumMod val="5000"/>
                      <a:lumOff val="95000"/>
                    </a:schemeClr>
                  </a:gs>
                  <a:gs pos="13000">
                    <a:srgbClr val="FF0000"/>
                  </a:gs>
                  <a:gs pos="60000">
                    <a:srgbClr val="FF0000"/>
                  </a:gs>
                  <a:gs pos="48000">
                    <a:schemeClr val="tx1"/>
                  </a:gs>
                  <a:gs pos="25000">
                    <a:schemeClr val="tx1"/>
                  </a:gs>
                  <a:gs pos="36000">
                    <a:srgbClr val="FF0000"/>
                  </a:gs>
                  <a:gs pos="71000">
                    <a:schemeClr val="tx1"/>
                  </a:gs>
                  <a:gs pos="81000">
                    <a:srgbClr val="FF0000"/>
                  </a:gs>
                  <a:gs pos="90000">
                    <a:schemeClr val="tx1"/>
                  </a:gs>
                  <a:gs pos="100000">
                    <a:srgbClr val="FF0000"/>
                  </a:gs>
                </a:gsLst>
                <a:lin ang="3600000" scaled="0"/>
                <a:tileRect/>
              </a:gra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D7BEF70-1ED3-1747-AB0D-97616E508781}"/>
                </a:ext>
              </a:extLst>
            </p:cNvPr>
            <p:cNvCxnSpPr>
              <a:cxnSpLocks/>
            </p:cNvCxnSpPr>
            <p:nvPr/>
          </p:nvCxnSpPr>
          <p:spPr>
            <a:xfrm flipV="1">
              <a:off x="5984046" y="5556049"/>
              <a:ext cx="118255" cy="54525"/>
            </a:xfrm>
            <a:prstGeom prst="line">
              <a:avLst/>
            </a:prstGeom>
            <a:ln w="19050">
              <a:gradFill flip="none" rotWithShape="1">
                <a:gsLst>
                  <a:gs pos="0">
                    <a:schemeClr val="accent1">
                      <a:lumMod val="5000"/>
                      <a:lumOff val="95000"/>
                    </a:schemeClr>
                  </a:gs>
                  <a:gs pos="13000">
                    <a:srgbClr val="FF0000"/>
                  </a:gs>
                  <a:gs pos="60000">
                    <a:srgbClr val="FF0000"/>
                  </a:gs>
                  <a:gs pos="48000">
                    <a:schemeClr val="tx1"/>
                  </a:gs>
                  <a:gs pos="25000">
                    <a:schemeClr val="tx1"/>
                  </a:gs>
                  <a:gs pos="36000">
                    <a:srgbClr val="FF0000"/>
                  </a:gs>
                  <a:gs pos="71000">
                    <a:schemeClr val="tx1"/>
                  </a:gs>
                  <a:gs pos="81000">
                    <a:srgbClr val="FF0000"/>
                  </a:gs>
                  <a:gs pos="90000">
                    <a:schemeClr val="tx1"/>
                  </a:gs>
                  <a:gs pos="100000">
                    <a:srgbClr val="FF0000"/>
                  </a:gs>
                </a:gsLst>
                <a:lin ang="3600000" scaled="0"/>
                <a:tileRect/>
              </a:gradFill>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F1B66D73-597E-9F4C-BA08-0DD8FAA4BBE2}"/>
              </a:ext>
            </a:extLst>
          </p:cNvPr>
          <p:cNvSpPr txBox="1"/>
          <p:nvPr/>
        </p:nvSpPr>
        <p:spPr>
          <a:xfrm>
            <a:off x="9967705" y="5894465"/>
            <a:ext cx="2199641" cy="461665"/>
          </a:xfrm>
          <a:prstGeom prst="rect">
            <a:avLst/>
          </a:prstGeom>
          <a:noFill/>
        </p:spPr>
        <p:txBody>
          <a:bodyPr wrap="none" rtlCol="0">
            <a:spAutoFit/>
          </a:bodyPr>
          <a:lstStyle/>
          <a:p>
            <a:r>
              <a:rPr lang="en-US" sz="2400" dirty="0">
                <a:latin typeface="Arial Regular"/>
              </a:rPr>
              <a:t>Obliquity = 60°</a:t>
            </a:r>
          </a:p>
        </p:txBody>
      </p:sp>
      <p:sp>
        <p:nvSpPr>
          <p:cNvPr id="39" name="TextBox 38">
            <a:extLst>
              <a:ext uri="{FF2B5EF4-FFF2-40B4-BE49-F238E27FC236}">
                <a16:creationId xmlns:a16="http://schemas.microsoft.com/office/drawing/2014/main" id="{B53548A4-2F3B-2746-92DD-DE897B5EE043}"/>
              </a:ext>
            </a:extLst>
          </p:cNvPr>
          <p:cNvSpPr txBox="1"/>
          <p:nvPr/>
        </p:nvSpPr>
        <p:spPr>
          <a:xfrm rot="16200000">
            <a:off x="11213815" y="2144285"/>
            <a:ext cx="1112805" cy="400110"/>
          </a:xfrm>
          <a:prstGeom prst="rect">
            <a:avLst/>
          </a:prstGeom>
          <a:noFill/>
        </p:spPr>
        <p:txBody>
          <a:bodyPr wrap="none" rtlCol="0">
            <a:spAutoFit/>
          </a:bodyPr>
          <a:lstStyle/>
          <a:p>
            <a:r>
              <a:rPr lang="en-US" sz="2000" dirty="0">
                <a:solidFill>
                  <a:srgbClr val="FFFF00"/>
                </a:solidFill>
                <a:latin typeface="Arial Regular"/>
              </a:rPr>
              <a:t>Sunlight</a:t>
            </a:r>
          </a:p>
        </p:txBody>
      </p:sp>
      <p:grpSp>
        <p:nvGrpSpPr>
          <p:cNvPr id="10" name="Group 9">
            <a:extLst>
              <a:ext uri="{FF2B5EF4-FFF2-40B4-BE49-F238E27FC236}">
                <a16:creationId xmlns:a16="http://schemas.microsoft.com/office/drawing/2014/main" id="{F8FB8490-1CB1-41AD-66D7-6A856ABE2875}"/>
              </a:ext>
            </a:extLst>
          </p:cNvPr>
          <p:cNvGrpSpPr/>
          <p:nvPr/>
        </p:nvGrpSpPr>
        <p:grpSpPr>
          <a:xfrm>
            <a:off x="11087741" y="4160923"/>
            <a:ext cx="899303" cy="1112805"/>
            <a:chOff x="11087741" y="4160923"/>
            <a:chExt cx="899303" cy="1112805"/>
          </a:xfrm>
        </p:grpSpPr>
        <p:cxnSp>
          <p:nvCxnSpPr>
            <p:cNvPr id="35" name="Straight Arrow Connector 34">
              <a:extLst>
                <a:ext uri="{FF2B5EF4-FFF2-40B4-BE49-F238E27FC236}">
                  <a16:creationId xmlns:a16="http://schemas.microsoft.com/office/drawing/2014/main" id="{BD62C320-AB71-C248-9C74-F07DFC9A0684}"/>
                </a:ext>
              </a:extLst>
            </p:cNvPr>
            <p:cNvCxnSpPr/>
            <p:nvPr/>
          </p:nvCxnSpPr>
          <p:spPr>
            <a:xfrm flipH="1">
              <a:off x="11087741" y="4449003"/>
              <a:ext cx="568443" cy="0"/>
            </a:xfrm>
            <a:prstGeom prst="straightConnector1">
              <a:avLst/>
            </a:prstGeom>
            <a:ln w="31750" cap="sq" cmpd="sng">
              <a:solidFill>
                <a:srgbClr val="FFFF00">
                  <a:alpha val="86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3425485-9019-5C42-B45B-B52F5C6BB1A4}"/>
                </a:ext>
              </a:extLst>
            </p:cNvPr>
            <p:cNvCxnSpPr/>
            <p:nvPr/>
          </p:nvCxnSpPr>
          <p:spPr>
            <a:xfrm flipH="1">
              <a:off x="11087741" y="4699125"/>
              <a:ext cx="568443" cy="0"/>
            </a:xfrm>
            <a:prstGeom prst="straightConnector1">
              <a:avLst/>
            </a:prstGeom>
            <a:ln w="31750" cap="sq" cmpd="sng">
              <a:solidFill>
                <a:srgbClr val="FFFF00">
                  <a:alpha val="86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3E25A71-7CC3-B74B-813E-15CAA6DABF11}"/>
                </a:ext>
              </a:extLst>
            </p:cNvPr>
            <p:cNvCxnSpPr/>
            <p:nvPr/>
          </p:nvCxnSpPr>
          <p:spPr>
            <a:xfrm flipH="1">
              <a:off x="11087741" y="4957391"/>
              <a:ext cx="568443" cy="0"/>
            </a:xfrm>
            <a:prstGeom prst="straightConnector1">
              <a:avLst/>
            </a:prstGeom>
            <a:ln w="31750" cap="sq" cmpd="sng">
              <a:solidFill>
                <a:srgbClr val="FFFF00">
                  <a:alpha val="86000"/>
                </a:srgbClr>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A6D6C803-9178-9141-9DEE-94C94A50242F}"/>
                </a:ext>
              </a:extLst>
            </p:cNvPr>
            <p:cNvSpPr txBox="1"/>
            <p:nvPr/>
          </p:nvSpPr>
          <p:spPr>
            <a:xfrm rot="16200000">
              <a:off x="11230586" y="4517271"/>
              <a:ext cx="1112805" cy="400110"/>
            </a:xfrm>
            <a:prstGeom prst="rect">
              <a:avLst/>
            </a:prstGeom>
            <a:noFill/>
          </p:spPr>
          <p:txBody>
            <a:bodyPr wrap="none" rtlCol="0">
              <a:spAutoFit/>
            </a:bodyPr>
            <a:lstStyle/>
            <a:p>
              <a:r>
                <a:rPr lang="en-US" sz="2000" dirty="0">
                  <a:solidFill>
                    <a:srgbClr val="FFFF00"/>
                  </a:solidFill>
                  <a:latin typeface="Arial Regular"/>
                </a:rPr>
                <a:t>Sunlight</a:t>
              </a:r>
            </a:p>
          </p:txBody>
        </p:sp>
      </p:grpSp>
      <p:grpSp>
        <p:nvGrpSpPr>
          <p:cNvPr id="53" name="Group 52">
            <a:extLst>
              <a:ext uri="{FF2B5EF4-FFF2-40B4-BE49-F238E27FC236}">
                <a16:creationId xmlns:a16="http://schemas.microsoft.com/office/drawing/2014/main" id="{817706D2-D068-364E-8382-6A754636E249}"/>
              </a:ext>
            </a:extLst>
          </p:cNvPr>
          <p:cNvGrpSpPr/>
          <p:nvPr/>
        </p:nvGrpSpPr>
        <p:grpSpPr>
          <a:xfrm>
            <a:off x="8059057" y="1127094"/>
            <a:ext cx="3452010" cy="2501257"/>
            <a:chOff x="5321795" y="1420778"/>
            <a:chExt cx="3137147" cy="2352861"/>
          </a:xfrm>
        </p:grpSpPr>
        <p:pic>
          <p:nvPicPr>
            <p:cNvPr id="28" name="Picture 27">
              <a:extLst>
                <a:ext uri="{FF2B5EF4-FFF2-40B4-BE49-F238E27FC236}">
                  <a16:creationId xmlns:a16="http://schemas.microsoft.com/office/drawing/2014/main" id="{55CD1970-AD5F-4A4D-B4A1-2E5FFEC5F6AE}"/>
                </a:ext>
              </a:extLst>
            </p:cNvPr>
            <p:cNvPicPr>
              <a:picLocks noChangeAspect="1"/>
            </p:cNvPicPr>
            <p:nvPr/>
          </p:nvPicPr>
          <p:blipFill>
            <a:blip r:embed="rId4"/>
            <a:stretch>
              <a:fillRect/>
            </a:stretch>
          </p:blipFill>
          <p:spPr>
            <a:xfrm>
              <a:off x="5321795" y="1420778"/>
              <a:ext cx="3137147" cy="2352861"/>
            </a:xfrm>
            <a:prstGeom prst="rect">
              <a:avLst/>
            </a:prstGeom>
          </p:spPr>
        </p:pic>
        <p:cxnSp>
          <p:nvCxnSpPr>
            <p:cNvPr id="43" name="Straight Connector 42">
              <a:extLst>
                <a:ext uri="{FF2B5EF4-FFF2-40B4-BE49-F238E27FC236}">
                  <a16:creationId xmlns:a16="http://schemas.microsoft.com/office/drawing/2014/main" id="{5EB90893-4D0F-964F-B362-CB4E07B00BA8}"/>
                </a:ext>
              </a:extLst>
            </p:cNvPr>
            <p:cNvCxnSpPr/>
            <p:nvPr/>
          </p:nvCxnSpPr>
          <p:spPr>
            <a:xfrm flipV="1">
              <a:off x="6938272" y="1476267"/>
              <a:ext cx="0" cy="137160"/>
            </a:xfrm>
            <a:prstGeom prst="line">
              <a:avLst/>
            </a:prstGeom>
            <a:ln w="19050">
              <a:gradFill flip="none" rotWithShape="1">
                <a:gsLst>
                  <a:gs pos="0">
                    <a:schemeClr val="accent1">
                      <a:lumMod val="5000"/>
                      <a:lumOff val="95000"/>
                    </a:schemeClr>
                  </a:gs>
                  <a:gs pos="13000">
                    <a:srgbClr val="FF0000"/>
                  </a:gs>
                  <a:gs pos="60000">
                    <a:srgbClr val="FF0000"/>
                  </a:gs>
                  <a:gs pos="48000">
                    <a:schemeClr val="tx1"/>
                  </a:gs>
                  <a:gs pos="25000">
                    <a:schemeClr val="tx1"/>
                  </a:gs>
                  <a:gs pos="36000">
                    <a:srgbClr val="FF0000"/>
                  </a:gs>
                  <a:gs pos="71000">
                    <a:schemeClr val="tx1"/>
                  </a:gs>
                  <a:gs pos="81000">
                    <a:srgbClr val="FF0000"/>
                  </a:gs>
                  <a:gs pos="90000">
                    <a:schemeClr val="tx1"/>
                  </a:gs>
                  <a:gs pos="100000">
                    <a:srgbClr val="FF0000"/>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6B1ED64-B43F-B44C-A6CF-0E4FF5506BAD}"/>
                </a:ext>
              </a:extLst>
            </p:cNvPr>
            <p:cNvCxnSpPr/>
            <p:nvPr/>
          </p:nvCxnSpPr>
          <p:spPr>
            <a:xfrm flipV="1">
              <a:off x="6937112" y="3506327"/>
              <a:ext cx="0" cy="137160"/>
            </a:xfrm>
            <a:prstGeom prst="line">
              <a:avLst/>
            </a:prstGeom>
            <a:ln w="19050">
              <a:gradFill flip="none" rotWithShape="1">
                <a:gsLst>
                  <a:gs pos="0">
                    <a:schemeClr val="accent1">
                      <a:lumMod val="5000"/>
                      <a:lumOff val="95000"/>
                    </a:schemeClr>
                  </a:gs>
                  <a:gs pos="13000">
                    <a:srgbClr val="FF0000"/>
                  </a:gs>
                  <a:gs pos="60000">
                    <a:srgbClr val="FF0000"/>
                  </a:gs>
                  <a:gs pos="48000">
                    <a:schemeClr val="tx1"/>
                  </a:gs>
                  <a:gs pos="25000">
                    <a:schemeClr val="tx1"/>
                  </a:gs>
                  <a:gs pos="36000">
                    <a:srgbClr val="FF0000"/>
                  </a:gs>
                  <a:gs pos="71000">
                    <a:schemeClr val="tx1"/>
                  </a:gs>
                  <a:gs pos="81000">
                    <a:srgbClr val="FF0000"/>
                  </a:gs>
                  <a:gs pos="90000">
                    <a:schemeClr val="tx1"/>
                  </a:gs>
                  <a:gs pos="100000">
                    <a:srgbClr val="FF0000"/>
                  </a:gs>
                </a:gsLst>
                <a:lin ang="16200000" scaled="1"/>
                <a:tileRect/>
              </a:gradFill>
            </a:ln>
          </p:spPr>
          <p:style>
            <a:lnRef idx="1">
              <a:schemeClr val="accent1"/>
            </a:lnRef>
            <a:fillRef idx="0">
              <a:schemeClr val="accent1"/>
            </a:fillRef>
            <a:effectRef idx="0">
              <a:schemeClr val="accent1"/>
            </a:effectRef>
            <a:fontRef idx="minor">
              <a:schemeClr val="tx1"/>
            </a:fontRef>
          </p:style>
        </p:cxnSp>
      </p:grpSp>
      <p:sp>
        <p:nvSpPr>
          <p:cNvPr id="41" name="Rectangle 40">
            <a:extLst>
              <a:ext uri="{FF2B5EF4-FFF2-40B4-BE49-F238E27FC236}">
                <a16:creationId xmlns:a16="http://schemas.microsoft.com/office/drawing/2014/main" id="{16C9FCF6-D142-9D4A-A67C-16ADE9851DED}"/>
              </a:ext>
            </a:extLst>
          </p:cNvPr>
          <p:cNvSpPr/>
          <p:nvPr/>
        </p:nvSpPr>
        <p:spPr>
          <a:xfrm>
            <a:off x="221728" y="1191201"/>
            <a:ext cx="8425884" cy="1200329"/>
          </a:xfrm>
          <a:prstGeom prst="rect">
            <a:avLst/>
          </a:prstGeom>
        </p:spPr>
        <p:txBody>
          <a:bodyPr wrap="square">
            <a:spAutoFit/>
          </a:bodyPr>
          <a:lstStyle/>
          <a:p>
            <a:pPr marL="342900" indent="-342900">
              <a:buFont typeface="Arial" panose="020B0604020202020204" pitchFamily="34" charset="0"/>
              <a:buChar char="•"/>
            </a:pPr>
            <a:r>
              <a:rPr lang="en-US" sz="2400" dirty="0">
                <a:latin typeface="Arial Regular"/>
              </a:rPr>
              <a:t>Obliquity, Eccentricity, and Longitude of Perihelion drive Milankovitch-like climate cycles</a:t>
            </a:r>
          </a:p>
          <a:p>
            <a:pPr marL="342900" indent="-342900">
              <a:buFont typeface="Arial" panose="020B0604020202020204" pitchFamily="34" charset="0"/>
              <a:buChar char="•"/>
            </a:pPr>
            <a:r>
              <a:rPr lang="en-US" sz="2400" dirty="0">
                <a:latin typeface="Arial Regular"/>
              </a:rPr>
              <a:t> </a:t>
            </a:r>
          </a:p>
        </p:txBody>
      </p:sp>
      <p:cxnSp>
        <p:nvCxnSpPr>
          <p:cNvPr id="3" name="Straight Arrow Connector 2">
            <a:extLst>
              <a:ext uri="{FF2B5EF4-FFF2-40B4-BE49-F238E27FC236}">
                <a16:creationId xmlns:a16="http://schemas.microsoft.com/office/drawing/2014/main" id="{06BDAA57-B299-0549-ACBB-C59B66229B3E}"/>
              </a:ext>
            </a:extLst>
          </p:cNvPr>
          <p:cNvCxnSpPr/>
          <p:nvPr/>
        </p:nvCxnSpPr>
        <p:spPr>
          <a:xfrm flipH="1">
            <a:off x="11070970" y="2094217"/>
            <a:ext cx="568443" cy="0"/>
          </a:xfrm>
          <a:prstGeom prst="straightConnector1">
            <a:avLst/>
          </a:prstGeom>
          <a:ln w="31750" cap="sq" cmpd="sng">
            <a:solidFill>
              <a:srgbClr val="FFFF00">
                <a:alpha val="86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14FC335-CCBC-A247-A79A-D5A707370D0B}"/>
              </a:ext>
            </a:extLst>
          </p:cNvPr>
          <p:cNvCxnSpPr/>
          <p:nvPr/>
        </p:nvCxnSpPr>
        <p:spPr>
          <a:xfrm flipH="1">
            <a:off x="11070970" y="2344339"/>
            <a:ext cx="568443" cy="0"/>
          </a:xfrm>
          <a:prstGeom prst="straightConnector1">
            <a:avLst/>
          </a:prstGeom>
          <a:ln w="31750" cap="sq" cmpd="sng">
            <a:solidFill>
              <a:srgbClr val="FFFF00">
                <a:alpha val="8600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760886F-9242-CF43-83EA-DCA98F6F3A32}"/>
              </a:ext>
            </a:extLst>
          </p:cNvPr>
          <p:cNvCxnSpPr/>
          <p:nvPr/>
        </p:nvCxnSpPr>
        <p:spPr>
          <a:xfrm flipH="1">
            <a:off x="11070970" y="2602605"/>
            <a:ext cx="568443" cy="0"/>
          </a:xfrm>
          <a:prstGeom prst="straightConnector1">
            <a:avLst/>
          </a:prstGeom>
          <a:ln w="31750" cap="sq" cmpd="sng">
            <a:solidFill>
              <a:srgbClr val="FFFF00">
                <a:alpha val="86000"/>
              </a:srgb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A3513BC-5D28-2441-960A-B8F316A7C417}"/>
              </a:ext>
            </a:extLst>
          </p:cNvPr>
          <p:cNvSpPr txBox="1"/>
          <p:nvPr/>
        </p:nvSpPr>
        <p:spPr>
          <a:xfrm>
            <a:off x="10163881" y="871834"/>
            <a:ext cx="2028119" cy="461665"/>
          </a:xfrm>
          <a:prstGeom prst="rect">
            <a:avLst/>
          </a:prstGeom>
          <a:noFill/>
        </p:spPr>
        <p:txBody>
          <a:bodyPr wrap="none" rtlCol="0">
            <a:spAutoFit/>
          </a:bodyPr>
          <a:lstStyle/>
          <a:p>
            <a:r>
              <a:rPr lang="en-US" sz="2400" dirty="0">
                <a:latin typeface="Arial Regular"/>
              </a:rPr>
              <a:t>Obliquity = 0°</a:t>
            </a:r>
          </a:p>
        </p:txBody>
      </p:sp>
      <p:pic>
        <p:nvPicPr>
          <p:cNvPr id="42" name="Picture 41">
            <a:extLst>
              <a:ext uri="{FF2B5EF4-FFF2-40B4-BE49-F238E27FC236}">
                <a16:creationId xmlns:a16="http://schemas.microsoft.com/office/drawing/2014/main" id="{A0EF6F85-6636-1C4D-B49F-C14F00DD7A58}"/>
              </a:ext>
            </a:extLst>
          </p:cNvPr>
          <p:cNvPicPr>
            <a:picLocks noChangeAspect="1"/>
          </p:cNvPicPr>
          <p:nvPr/>
        </p:nvPicPr>
        <p:blipFill rotWithShape="1">
          <a:blip r:embed="rId5">
            <a:extLst>
              <a:ext uri="{28A0092B-C50C-407E-A947-70E740481C1C}">
                <a14:useLocalDpi xmlns:a14="http://schemas.microsoft.com/office/drawing/2010/main" val="0"/>
              </a:ext>
            </a:extLst>
          </a:blip>
          <a:srcRect l="10696" t="36855" r="10696" b="36858"/>
          <a:stretch/>
        </p:blipFill>
        <p:spPr>
          <a:xfrm>
            <a:off x="1022220" y="3141875"/>
            <a:ext cx="6431422" cy="2783367"/>
          </a:xfrm>
          <a:prstGeom prst="rect">
            <a:avLst/>
          </a:prstGeom>
          <a:ln w="28575">
            <a:noFill/>
          </a:ln>
        </p:spPr>
      </p:pic>
      <p:sp>
        <p:nvSpPr>
          <p:cNvPr id="2" name="Rectangle 1">
            <a:extLst>
              <a:ext uri="{FF2B5EF4-FFF2-40B4-BE49-F238E27FC236}">
                <a16:creationId xmlns:a16="http://schemas.microsoft.com/office/drawing/2014/main" id="{6E86D85E-B32D-2640-AEBD-7C274D52C0A7}"/>
              </a:ext>
            </a:extLst>
          </p:cNvPr>
          <p:cNvSpPr/>
          <p:nvPr/>
        </p:nvSpPr>
        <p:spPr>
          <a:xfrm>
            <a:off x="5185918" y="5925242"/>
            <a:ext cx="2390398" cy="400110"/>
          </a:xfrm>
          <a:prstGeom prst="rect">
            <a:avLst/>
          </a:prstGeom>
        </p:spPr>
        <p:txBody>
          <a:bodyPr wrap="none">
            <a:spAutoFit/>
          </a:bodyPr>
          <a:lstStyle/>
          <a:p>
            <a:r>
              <a:rPr lang="en-US" sz="2000" i="1" dirty="0">
                <a:latin typeface="Arial Regular"/>
                <a:cs typeface="Sarabun" pitchFamily="2" charset="-34"/>
              </a:rPr>
              <a:t>(</a:t>
            </a:r>
            <a:r>
              <a:rPr lang="en-US" sz="2000" i="1" dirty="0" err="1">
                <a:latin typeface="Arial Regular"/>
                <a:cs typeface="Sarabun" pitchFamily="2" charset="-34"/>
              </a:rPr>
              <a:t>Laskar</a:t>
            </a:r>
            <a:r>
              <a:rPr lang="en-US" sz="2000" i="1" dirty="0">
                <a:latin typeface="Arial Regular"/>
                <a:cs typeface="Sarabun" pitchFamily="2" charset="-34"/>
              </a:rPr>
              <a:t> et al. 2004)</a:t>
            </a:r>
          </a:p>
        </p:txBody>
      </p:sp>
      <p:sp>
        <p:nvSpPr>
          <p:cNvPr id="6" name="TextBox 5">
            <a:extLst>
              <a:ext uri="{FF2B5EF4-FFF2-40B4-BE49-F238E27FC236}">
                <a16:creationId xmlns:a16="http://schemas.microsoft.com/office/drawing/2014/main" id="{42DD6EF7-6A15-2A2D-AC52-B9B4A55F9EEC}"/>
              </a:ext>
            </a:extLst>
          </p:cNvPr>
          <p:cNvSpPr txBox="1"/>
          <p:nvPr/>
        </p:nvSpPr>
        <p:spPr>
          <a:xfrm>
            <a:off x="7890933" y="6829778"/>
            <a:ext cx="184731" cy="369332"/>
          </a:xfrm>
          <a:prstGeom prst="rect">
            <a:avLst/>
          </a:prstGeom>
          <a:noFill/>
        </p:spPr>
        <p:txBody>
          <a:bodyPr wrap="none" rtlCol="0">
            <a:spAutoFit/>
          </a:bodyPr>
          <a:lstStyle/>
          <a:p>
            <a:endParaRPr lang="en-US" dirty="0"/>
          </a:p>
        </p:txBody>
      </p:sp>
      <p:sp>
        <p:nvSpPr>
          <p:cNvPr id="4" name="Title 3">
            <a:extLst>
              <a:ext uri="{FF2B5EF4-FFF2-40B4-BE49-F238E27FC236}">
                <a16:creationId xmlns:a16="http://schemas.microsoft.com/office/drawing/2014/main" id="{BD6FCAB7-8A09-36CE-A893-17327CE70C39}"/>
              </a:ext>
            </a:extLst>
          </p:cNvPr>
          <p:cNvSpPr>
            <a:spLocks noGrp="1"/>
          </p:cNvSpPr>
          <p:nvPr>
            <p:ph type="title"/>
          </p:nvPr>
        </p:nvSpPr>
        <p:spPr>
          <a:xfrm>
            <a:off x="161277" y="41408"/>
            <a:ext cx="11869445" cy="1096325"/>
          </a:xfrm>
        </p:spPr>
        <p:txBody>
          <a:bodyPr/>
          <a:lstStyle/>
          <a:p>
            <a:r>
              <a:rPr lang="en-US" dirty="0"/>
              <a:t>Orbital Variations Drive Climate </a:t>
            </a:r>
          </a:p>
        </p:txBody>
      </p:sp>
      <p:sp>
        <p:nvSpPr>
          <p:cNvPr id="9" name="Footer Placeholder 8">
            <a:extLst>
              <a:ext uri="{FF2B5EF4-FFF2-40B4-BE49-F238E27FC236}">
                <a16:creationId xmlns:a16="http://schemas.microsoft.com/office/drawing/2014/main" id="{10E156EC-27E4-E0D2-372B-9642749B9FEA}"/>
              </a:ext>
            </a:extLst>
          </p:cNvPr>
          <p:cNvSpPr>
            <a:spLocks noGrp="1"/>
          </p:cNvSpPr>
          <p:nvPr>
            <p:ph type="ftr" sz="quarter" idx="11"/>
          </p:nvPr>
        </p:nvSpPr>
        <p:spPr/>
        <p:txBody>
          <a:bodyPr/>
          <a:lstStyle/>
          <a:p>
            <a:r>
              <a:rPr lang="en-US"/>
              <a:t>Ali M. Bramson (BramsonA@purdue.edu)  •   Title   •   AGU 2025 New Orleans   •   Date</a:t>
            </a:r>
            <a:endParaRPr lang="en-US" dirty="0"/>
          </a:p>
        </p:txBody>
      </p:sp>
      <p:cxnSp>
        <p:nvCxnSpPr>
          <p:cNvPr id="11" name="Straight Connector 10">
            <a:extLst>
              <a:ext uri="{FF2B5EF4-FFF2-40B4-BE49-F238E27FC236}">
                <a16:creationId xmlns:a16="http://schemas.microsoft.com/office/drawing/2014/main" id="{BAAC04EB-01C3-823A-7213-204ACC6560C4}"/>
              </a:ext>
            </a:extLst>
          </p:cNvPr>
          <p:cNvCxnSpPr>
            <a:cxnSpLocks/>
          </p:cNvCxnSpPr>
          <p:nvPr/>
        </p:nvCxnSpPr>
        <p:spPr>
          <a:xfrm>
            <a:off x="1713162" y="4486868"/>
            <a:ext cx="527359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EF63D9D-B60A-CC51-AE2B-97217B40416F}"/>
              </a:ext>
            </a:extLst>
          </p:cNvPr>
          <p:cNvCxnSpPr>
            <a:cxnSpLocks/>
          </p:cNvCxnSpPr>
          <p:nvPr/>
        </p:nvCxnSpPr>
        <p:spPr>
          <a:xfrm>
            <a:off x="1713162" y="4577200"/>
            <a:ext cx="527359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1161A99-02C1-EE27-E803-626C4626F928}"/>
              </a:ext>
            </a:extLst>
          </p:cNvPr>
          <p:cNvSpPr txBox="1"/>
          <p:nvPr/>
        </p:nvSpPr>
        <p:spPr>
          <a:xfrm>
            <a:off x="1713162" y="4569810"/>
            <a:ext cx="2161169" cy="400110"/>
          </a:xfrm>
          <a:prstGeom prst="rect">
            <a:avLst/>
          </a:prstGeom>
          <a:noFill/>
        </p:spPr>
        <p:txBody>
          <a:bodyPr wrap="none" rtlCol="0">
            <a:spAutoFit/>
          </a:bodyPr>
          <a:lstStyle/>
          <a:p>
            <a:r>
              <a:rPr lang="en-US" sz="2000" dirty="0">
                <a:solidFill>
                  <a:srgbClr val="00B050"/>
                </a:solidFill>
                <a:latin typeface="Arial Regular"/>
                <a:cs typeface="Sarabun" pitchFamily="2" charset="-34"/>
              </a:rPr>
              <a:t>Earth’s Variations</a:t>
            </a:r>
          </a:p>
        </p:txBody>
      </p:sp>
    </p:spTree>
    <p:extLst>
      <p:ext uri="{BB962C8B-B14F-4D97-AF65-F5344CB8AC3E}">
        <p14:creationId xmlns:p14="http://schemas.microsoft.com/office/powerpoint/2010/main" val="3478355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3E59-BFBF-D627-51AC-972935C16497}"/>
              </a:ext>
            </a:extLst>
          </p:cNvPr>
          <p:cNvSpPr>
            <a:spLocks noGrp="1"/>
          </p:cNvSpPr>
          <p:nvPr>
            <p:ph type="title"/>
          </p:nvPr>
        </p:nvSpPr>
        <p:spPr/>
        <p:txBody>
          <a:bodyPr>
            <a:normAutofit fontScale="90000"/>
          </a:bodyPr>
          <a:lstStyle/>
          <a:p>
            <a:r>
              <a:rPr lang="en-US" dirty="0"/>
              <a:t>Ice deposits are widespread across Mars’ midlatitudes</a:t>
            </a:r>
          </a:p>
        </p:txBody>
      </p:sp>
      <p:sp>
        <p:nvSpPr>
          <p:cNvPr id="3" name="Content Placeholder 2">
            <a:extLst>
              <a:ext uri="{FF2B5EF4-FFF2-40B4-BE49-F238E27FC236}">
                <a16:creationId xmlns:a16="http://schemas.microsoft.com/office/drawing/2014/main" id="{36C61DC2-4ECA-A6DF-EB1C-035EC0496D11}"/>
              </a:ext>
            </a:extLst>
          </p:cNvPr>
          <p:cNvSpPr>
            <a:spLocks noGrp="1"/>
          </p:cNvSpPr>
          <p:nvPr>
            <p:ph idx="1"/>
          </p:nvPr>
        </p:nvSpPr>
        <p:spPr>
          <a:xfrm>
            <a:off x="161276" y="1232850"/>
            <a:ext cx="11869445" cy="1366994"/>
          </a:xfrm>
        </p:spPr>
        <p:txBody>
          <a:bodyPr/>
          <a:lstStyle/>
          <a:p>
            <a:r>
              <a:rPr lang="en-US" sz="2800" b="0" i="0" u="none" strike="noStrike" dirty="0">
                <a:effectLst/>
                <a:latin typeface="Arial" panose="020B0604020202020204" pitchFamily="34" charset="0"/>
              </a:rPr>
              <a:t>Ice-exposing scarps confirm the presence of massive ice deposits found by remote sensing techniques</a:t>
            </a:r>
            <a:endParaRPr lang="en-US" dirty="0"/>
          </a:p>
        </p:txBody>
      </p:sp>
      <p:sp>
        <p:nvSpPr>
          <p:cNvPr id="4" name="Footer Placeholder 3">
            <a:extLst>
              <a:ext uri="{FF2B5EF4-FFF2-40B4-BE49-F238E27FC236}">
                <a16:creationId xmlns:a16="http://schemas.microsoft.com/office/drawing/2014/main" id="{429CE161-C8F7-D993-EE83-351DD83D3EB3}"/>
              </a:ext>
            </a:extLst>
          </p:cNvPr>
          <p:cNvSpPr>
            <a:spLocks noGrp="1"/>
          </p:cNvSpPr>
          <p:nvPr>
            <p:ph type="ftr" sz="quarter" idx="11"/>
          </p:nvPr>
        </p:nvSpPr>
        <p:spPr/>
        <p:txBody>
          <a:bodyPr/>
          <a:lstStyle/>
          <a:p>
            <a:r>
              <a:rPr lang="en-US"/>
              <a:t>Ali M. Bramson (BramsonA@purdue.edu)  •   Title   •   AGU 2025 New Orleans   •   Date</a:t>
            </a:r>
            <a:endParaRPr lang="en-US" dirty="0"/>
          </a:p>
        </p:txBody>
      </p:sp>
      <p:sp>
        <p:nvSpPr>
          <p:cNvPr id="9" name="TextBox 8">
            <a:extLst>
              <a:ext uri="{FF2B5EF4-FFF2-40B4-BE49-F238E27FC236}">
                <a16:creationId xmlns:a16="http://schemas.microsoft.com/office/drawing/2014/main" id="{5CF702A8-8DEB-9951-0BE2-84D8A4A441C6}"/>
              </a:ext>
            </a:extLst>
          </p:cNvPr>
          <p:cNvSpPr txBox="1"/>
          <p:nvPr/>
        </p:nvSpPr>
        <p:spPr>
          <a:xfrm>
            <a:off x="8331644" y="2351852"/>
            <a:ext cx="3476530" cy="369332"/>
          </a:xfrm>
          <a:prstGeom prst="rect">
            <a:avLst/>
          </a:prstGeom>
          <a:noFill/>
        </p:spPr>
        <p:txBody>
          <a:bodyPr wrap="square" rtlCol="0">
            <a:spAutoFit/>
          </a:bodyPr>
          <a:lstStyle/>
          <a:p>
            <a:pPr algn="r"/>
            <a:r>
              <a:rPr lang="en-US" i="1" dirty="0">
                <a:latin typeface="Arial" panose="020B0604020202020204" pitchFamily="34" charset="0"/>
                <a:cs typeface="Arial" panose="020B0604020202020204" pitchFamily="34" charset="0"/>
              </a:rPr>
              <a:t>SWIM Ice Consistency map</a:t>
            </a:r>
          </a:p>
        </p:txBody>
      </p:sp>
      <p:grpSp>
        <p:nvGrpSpPr>
          <p:cNvPr id="12" name="Group 11">
            <a:extLst>
              <a:ext uri="{FF2B5EF4-FFF2-40B4-BE49-F238E27FC236}">
                <a16:creationId xmlns:a16="http://schemas.microsoft.com/office/drawing/2014/main" id="{93AEFDCA-468F-2621-92B0-3D06AFAF82BA}"/>
              </a:ext>
            </a:extLst>
          </p:cNvPr>
          <p:cNvGrpSpPr/>
          <p:nvPr/>
        </p:nvGrpSpPr>
        <p:grpSpPr>
          <a:xfrm>
            <a:off x="460090" y="2721185"/>
            <a:ext cx="11271820" cy="3642271"/>
            <a:chOff x="460090" y="2721185"/>
            <a:chExt cx="11271820" cy="3642271"/>
          </a:xfrm>
        </p:grpSpPr>
        <p:sp>
          <p:nvSpPr>
            <p:cNvPr id="7" name="Rectangle 6">
              <a:extLst>
                <a:ext uri="{FF2B5EF4-FFF2-40B4-BE49-F238E27FC236}">
                  <a16:creationId xmlns:a16="http://schemas.microsoft.com/office/drawing/2014/main" id="{6451D652-05A8-40DD-8063-C4E8344E34DB}"/>
                </a:ext>
              </a:extLst>
            </p:cNvPr>
            <p:cNvSpPr/>
            <p:nvPr/>
          </p:nvSpPr>
          <p:spPr>
            <a:xfrm>
              <a:off x="460090" y="2721185"/>
              <a:ext cx="11271820" cy="364227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1" name="Picture 10">
              <a:extLst>
                <a:ext uri="{FF2B5EF4-FFF2-40B4-BE49-F238E27FC236}">
                  <a16:creationId xmlns:a16="http://schemas.microsoft.com/office/drawing/2014/main" id="{E8D53F99-5659-2F54-5FDE-D10DFC570124}"/>
                </a:ext>
              </a:extLst>
            </p:cNvPr>
            <p:cNvPicPr>
              <a:picLocks noChangeAspect="1"/>
            </p:cNvPicPr>
            <p:nvPr/>
          </p:nvPicPr>
          <p:blipFill>
            <a:blip r:embed="rId3"/>
            <a:stretch>
              <a:fillRect/>
            </a:stretch>
          </p:blipFill>
          <p:spPr>
            <a:xfrm>
              <a:off x="460090" y="2721185"/>
              <a:ext cx="11119292" cy="3642271"/>
            </a:xfrm>
            <a:prstGeom prst="rect">
              <a:avLst/>
            </a:prstGeom>
          </p:spPr>
        </p:pic>
      </p:grpSp>
    </p:spTree>
    <p:extLst>
      <p:ext uri="{BB962C8B-B14F-4D97-AF65-F5344CB8AC3E}">
        <p14:creationId xmlns:p14="http://schemas.microsoft.com/office/powerpoint/2010/main" val="2634025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9A9FC-795F-CF0C-7148-26C0685B649F}"/>
              </a:ext>
            </a:extLst>
          </p:cNvPr>
          <p:cNvSpPr>
            <a:spLocks noGrp="1"/>
          </p:cNvSpPr>
          <p:nvPr>
            <p:ph type="title"/>
          </p:nvPr>
        </p:nvSpPr>
        <p:spPr>
          <a:xfrm>
            <a:off x="161276" y="45671"/>
            <a:ext cx="11869445" cy="1096325"/>
          </a:xfrm>
        </p:spPr>
        <p:txBody>
          <a:bodyPr/>
          <a:lstStyle/>
          <a:p>
            <a:r>
              <a:rPr lang="en-US" dirty="0"/>
              <a:t>Ice-exposing scarps</a:t>
            </a:r>
          </a:p>
        </p:txBody>
      </p:sp>
      <p:sp>
        <p:nvSpPr>
          <p:cNvPr id="4" name="Footer Placeholder 3">
            <a:extLst>
              <a:ext uri="{FF2B5EF4-FFF2-40B4-BE49-F238E27FC236}">
                <a16:creationId xmlns:a16="http://schemas.microsoft.com/office/drawing/2014/main" id="{075D1358-D3C3-BE0C-6FEE-38BD6FF9E1F2}"/>
              </a:ext>
            </a:extLst>
          </p:cNvPr>
          <p:cNvSpPr>
            <a:spLocks noGrp="1"/>
          </p:cNvSpPr>
          <p:nvPr>
            <p:ph type="ftr" sz="quarter" idx="11"/>
          </p:nvPr>
        </p:nvSpPr>
        <p:spPr/>
        <p:txBody>
          <a:bodyPr/>
          <a:lstStyle/>
          <a:p>
            <a:r>
              <a:rPr lang="en-US"/>
              <a:t>Ali M. Bramson (BramsonA@purdue.edu)  •   Title   •   AGU 2025 New Orleans   •   Date</a:t>
            </a:r>
            <a:endParaRPr lang="en-US" dirty="0"/>
          </a:p>
        </p:txBody>
      </p:sp>
      <p:pic>
        <p:nvPicPr>
          <p:cNvPr id="10" name="Picture 9">
            <a:extLst>
              <a:ext uri="{FF2B5EF4-FFF2-40B4-BE49-F238E27FC236}">
                <a16:creationId xmlns:a16="http://schemas.microsoft.com/office/drawing/2014/main" id="{533C9EDF-A187-EE52-6122-6E84E7EB38A7}"/>
              </a:ext>
            </a:extLst>
          </p:cNvPr>
          <p:cNvPicPr>
            <a:picLocks noChangeAspect="1"/>
          </p:cNvPicPr>
          <p:nvPr/>
        </p:nvPicPr>
        <p:blipFill rotWithShape="1">
          <a:blip r:embed="rId3"/>
          <a:srcRect l="1357" t="691"/>
          <a:stretch/>
        </p:blipFill>
        <p:spPr>
          <a:xfrm>
            <a:off x="7278985" y="945479"/>
            <a:ext cx="4592647" cy="2838204"/>
          </a:xfrm>
          <a:prstGeom prst="rect">
            <a:avLst/>
          </a:prstGeom>
          <a:ln w="28575">
            <a:solidFill>
              <a:srgbClr val="00B0F0"/>
            </a:solidFill>
          </a:ln>
        </p:spPr>
      </p:pic>
      <p:sp>
        <p:nvSpPr>
          <p:cNvPr id="12" name="Content Placeholder 11">
            <a:extLst>
              <a:ext uri="{FF2B5EF4-FFF2-40B4-BE49-F238E27FC236}">
                <a16:creationId xmlns:a16="http://schemas.microsoft.com/office/drawing/2014/main" id="{6DFAC34B-96F6-F208-08DF-349ED0C175DA}"/>
              </a:ext>
            </a:extLst>
          </p:cNvPr>
          <p:cNvSpPr>
            <a:spLocks noGrp="1"/>
          </p:cNvSpPr>
          <p:nvPr>
            <p:ph idx="1"/>
          </p:nvPr>
        </p:nvSpPr>
        <p:spPr>
          <a:xfrm>
            <a:off x="161277" y="984005"/>
            <a:ext cx="6655982" cy="2799678"/>
          </a:xfrm>
        </p:spPr>
        <p:txBody>
          <a:bodyPr>
            <a:normAutofit fontScale="70000" lnSpcReduction="20000"/>
          </a:bodyPr>
          <a:lstStyle/>
          <a:p>
            <a:pPr rtl="0">
              <a:lnSpc>
                <a:spcPct val="110000"/>
              </a:lnSpc>
              <a:spcAft>
                <a:spcPts val="0"/>
              </a:spcAft>
            </a:pPr>
            <a:r>
              <a:rPr lang="en-US" sz="3600" dirty="0"/>
              <a:t>Scarps tend to be poleward facing (Dundas et al. 2021), steep (~45</a:t>
            </a:r>
            <a:r>
              <a:rPr lang="en-US" sz="3600" b="0" i="0" u="none" strike="noStrike" dirty="0">
                <a:effectLst/>
                <a:latin typeface="Arial" panose="020B0604020202020204" pitchFamily="34" charset="0"/>
              </a:rPr>
              <a:t>°), and are part of a larger pit-like feature</a:t>
            </a:r>
          </a:p>
          <a:p>
            <a:pPr rtl="0">
              <a:lnSpc>
                <a:spcPct val="110000"/>
              </a:lnSpc>
              <a:spcAft>
                <a:spcPts val="0"/>
              </a:spcAft>
            </a:pPr>
            <a:r>
              <a:rPr lang="en-US" sz="3700" dirty="0"/>
              <a:t>Scarp-parallel ridges within pit are hypothesized to form by scarp retreat</a:t>
            </a:r>
          </a:p>
          <a:p>
            <a:pPr lvl="1">
              <a:lnSpc>
                <a:spcPct val="110000"/>
              </a:lnSpc>
            </a:pPr>
            <a:r>
              <a:rPr lang="en-US" sz="3300" dirty="0"/>
              <a:t>the number of ridges may correlate with periodic variations in sublimation rate  </a:t>
            </a:r>
          </a:p>
        </p:txBody>
      </p:sp>
      <p:pic>
        <p:nvPicPr>
          <p:cNvPr id="14" name="Picture 13">
            <a:extLst>
              <a:ext uri="{FF2B5EF4-FFF2-40B4-BE49-F238E27FC236}">
                <a16:creationId xmlns:a16="http://schemas.microsoft.com/office/drawing/2014/main" id="{FF246950-14E2-A32E-F4F9-A5CE24CE3A9D}"/>
              </a:ext>
            </a:extLst>
          </p:cNvPr>
          <p:cNvPicPr>
            <a:picLocks noChangeAspect="1"/>
          </p:cNvPicPr>
          <p:nvPr/>
        </p:nvPicPr>
        <p:blipFill rotWithShape="1">
          <a:blip r:embed="rId4"/>
          <a:srcRect t="13990"/>
          <a:stretch/>
        </p:blipFill>
        <p:spPr>
          <a:xfrm>
            <a:off x="7278986" y="3884886"/>
            <a:ext cx="4592646" cy="2453195"/>
          </a:xfrm>
          <a:prstGeom prst="rect">
            <a:avLst/>
          </a:prstGeom>
        </p:spPr>
      </p:pic>
      <p:sp>
        <p:nvSpPr>
          <p:cNvPr id="15" name="TextBox 14">
            <a:extLst>
              <a:ext uri="{FF2B5EF4-FFF2-40B4-BE49-F238E27FC236}">
                <a16:creationId xmlns:a16="http://schemas.microsoft.com/office/drawing/2014/main" id="{84DD02E7-D3BA-92A4-B033-C46FCCAE9DE9}"/>
              </a:ext>
            </a:extLst>
          </p:cNvPr>
          <p:cNvSpPr txBox="1"/>
          <p:nvPr/>
        </p:nvSpPr>
        <p:spPr>
          <a:xfrm>
            <a:off x="9832062" y="593833"/>
            <a:ext cx="2039569" cy="369332"/>
          </a:xfrm>
          <a:prstGeom prst="rect">
            <a:avLst/>
          </a:prstGeom>
          <a:noFill/>
        </p:spPr>
        <p:txBody>
          <a:bodyPr wrap="square" rtlCol="0">
            <a:spAutoFit/>
          </a:bodyPr>
          <a:lstStyle/>
          <a:p>
            <a:pPr algn="r"/>
            <a:r>
              <a:rPr lang="en-US" dirty="0">
                <a:latin typeface="Arial" panose="020B0604020202020204" pitchFamily="34" charset="0"/>
                <a:cs typeface="Arial" panose="020B0604020202020204" pitchFamily="34" charset="0"/>
              </a:rPr>
              <a:t>“Scarp 1”</a:t>
            </a:r>
          </a:p>
        </p:txBody>
      </p:sp>
      <p:sp>
        <p:nvSpPr>
          <p:cNvPr id="16" name="Rectangle 15">
            <a:extLst>
              <a:ext uri="{FF2B5EF4-FFF2-40B4-BE49-F238E27FC236}">
                <a16:creationId xmlns:a16="http://schemas.microsoft.com/office/drawing/2014/main" id="{3ECF0060-9094-D4EC-777C-747C3903200A}"/>
              </a:ext>
            </a:extLst>
          </p:cNvPr>
          <p:cNvSpPr/>
          <p:nvPr/>
        </p:nvSpPr>
        <p:spPr>
          <a:xfrm>
            <a:off x="9642764" y="4497451"/>
            <a:ext cx="348495" cy="205079"/>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A98B418B-4113-5A96-294F-B4FEB1EF3453}"/>
              </a:ext>
            </a:extLst>
          </p:cNvPr>
          <p:cNvCxnSpPr>
            <a:cxnSpLocks/>
          </p:cNvCxnSpPr>
          <p:nvPr/>
        </p:nvCxnSpPr>
        <p:spPr>
          <a:xfrm>
            <a:off x="7278986" y="3783683"/>
            <a:ext cx="2363778" cy="71376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59D46C9-FCF6-6B7D-5515-6434AE87B2FF}"/>
              </a:ext>
            </a:extLst>
          </p:cNvPr>
          <p:cNvCxnSpPr>
            <a:cxnSpLocks/>
          </p:cNvCxnSpPr>
          <p:nvPr/>
        </p:nvCxnSpPr>
        <p:spPr>
          <a:xfrm flipH="1">
            <a:off x="9991259" y="3783683"/>
            <a:ext cx="1880372" cy="71376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A8DC1C3A-B4C8-7F1A-DC44-3A14F052F019}"/>
              </a:ext>
            </a:extLst>
          </p:cNvPr>
          <p:cNvPicPr>
            <a:picLocks noChangeAspect="1"/>
          </p:cNvPicPr>
          <p:nvPr/>
        </p:nvPicPr>
        <p:blipFill rotWithShape="1">
          <a:blip r:embed="rId5"/>
          <a:srcRect t="54143" r="-164" b="1946"/>
          <a:stretch/>
        </p:blipFill>
        <p:spPr>
          <a:xfrm>
            <a:off x="235131" y="4599990"/>
            <a:ext cx="6817259" cy="1343574"/>
          </a:xfrm>
          <a:prstGeom prst="rect">
            <a:avLst/>
          </a:prstGeom>
          <a:ln w="28575">
            <a:solidFill>
              <a:srgbClr val="FF0000"/>
            </a:solidFill>
          </a:ln>
        </p:spPr>
      </p:pic>
      <p:grpSp>
        <p:nvGrpSpPr>
          <p:cNvPr id="29" name="Group 28">
            <a:extLst>
              <a:ext uri="{FF2B5EF4-FFF2-40B4-BE49-F238E27FC236}">
                <a16:creationId xmlns:a16="http://schemas.microsoft.com/office/drawing/2014/main" id="{2381AC8A-015A-EA35-EF79-9D752377F186}"/>
              </a:ext>
            </a:extLst>
          </p:cNvPr>
          <p:cNvGrpSpPr/>
          <p:nvPr/>
        </p:nvGrpSpPr>
        <p:grpSpPr>
          <a:xfrm>
            <a:off x="11440758" y="5672234"/>
            <a:ext cx="430873" cy="731937"/>
            <a:chOff x="6750918" y="-1529256"/>
            <a:chExt cx="430873" cy="731937"/>
          </a:xfrm>
        </p:grpSpPr>
        <p:sp>
          <p:nvSpPr>
            <p:cNvPr id="27" name="Down Arrow 26">
              <a:extLst>
                <a:ext uri="{FF2B5EF4-FFF2-40B4-BE49-F238E27FC236}">
                  <a16:creationId xmlns:a16="http://schemas.microsoft.com/office/drawing/2014/main" id="{40553E9D-8D15-40D8-BC51-1EB9BD632B65}"/>
                </a:ext>
              </a:extLst>
            </p:cNvPr>
            <p:cNvSpPr/>
            <p:nvPr/>
          </p:nvSpPr>
          <p:spPr>
            <a:xfrm rot="10800000">
              <a:off x="6817258" y="-1529256"/>
              <a:ext cx="235131" cy="40990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2B122F9-F4B1-2129-0C7F-DB3A6DD0C563}"/>
                </a:ext>
              </a:extLst>
            </p:cNvPr>
            <p:cNvSpPr txBox="1"/>
            <p:nvPr/>
          </p:nvSpPr>
          <p:spPr>
            <a:xfrm>
              <a:off x="6750918" y="-1166651"/>
              <a:ext cx="430873" cy="369332"/>
            </a:xfrm>
            <a:prstGeom prst="rect">
              <a:avLst/>
            </a:prstGeom>
            <a:noFill/>
          </p:spPr>
          <p:txBody>
            <a:bodyPr wrap="square" rtlCol="0">
              <a:spAutoFit/>
            </a:bodyPr>
            <a:lstStyle/>
            <a:p>
              <a:r>
                <a:rPr lang="en-US" b="1" dirty="0">
                  <a:solidFill>
                    <a:schemeClr val="bg1"/>
                  </a:solidFill>
                  <a:latin typeface="Verdana" panose="020B0604030504040204" pitchFamily="34" charset="0"/>
                  <a:ea typeface="Verdana" panose="020B0604030504040204" pitchFamily="34" charset="0"/>
                  <a:cs typeface="Verdana" panose="020B0604030504040204" pitchFamily="34" charset="0"/>
                </a:rPr>
                <a:t>N</a:t>
              </a:r>
            </a:p>
          </p:txBody>
        </p:sp>
      </p:grpSp>
      <p:grpSp>
        <p:nvGrpSpPr>
          <p:cNvPr id="33" name="Group 32">
            <a:extLst>
              <a:ext uri="{FF2B5EF4-FFF2-40B4-BE49-F238E27FC236}">
                <a16:creationId xmlns:a16="http://schemas.microsoft.com/office/drawing/2014/main" id="{ED8DD990-AD2A-B668-DDA5-F366872A68FA}"/>
              </a:ext>
            </a:extLst>
          </p:cNvPr>
          <p:cNvGrpSpPr/>
          <p:nvPr/>
        </p:nvGrpSpPr>
        <p:grpSpPr>
          <a:xfrm>
            <a:off x="423051" y="3757059"/>
            <a:ext cx="6507506" cy="2572049"/>
            <a:chOff x="423051" y="3757059"/>
            <a:chExt cx="6507506" cy="2572049"/>
          </a:xfrm>
        </p:grpSpPr>
        <p:pic>
          <p:nvPicPr>
            <p:cNvPr id="31" name="Picture 30">
              <a:extLst>
                <a:ext uri="{FF2B5EF4-FFF2-40B4-BE49-F238E27FC236}">
                  <a16:creationId xmlns:a16="http://schemas.microsoft.com/office/drawing/2014/main" id="{48EAA033-21BA-0BC8-9306-AABF90C72C15}"/>
                </a:ext>
              </a:extLst>
            </p:cNvPr>
            <p:cNvPicPr>
              <a:picLocks noChangeAspect="1"/>
            </p:cNvPicPr>
            <p:nvPr/>
          </p:nvPicPr>
          <p:blipFill>
            <a:blip r:embed="rId6"/>
            <a:stretch>
              <a:fillRect/>
            </a:stretch>
          </p:blipFill>
          <p:spPr>
            <a:xfrm>
              <a:off x="423051" y="3757059"/>
              <a:ext cx="6507506" cy="2572049"/>
            </a:xfrm>
            <a:prstGeom prst="rect">
              <a:avLst/>
            </a:prstGeom>
            <a:ln>
              <a:solidFill>
                <a:srgbClr val="FF0000"/>
              </a:solidFill>
            </a:ln>
          </p:spPr>
        </p:pic>
        <p:sp>
          <p:nvSpPr>
            <p:cNvPr id="32" name="TextBox 31">
              <a:extLst>
                <a:ext uri="{FF2B5EF4-FFF2-40B4-BE49-F238E27FC236}">
                  <a16:creationId xmlns:a16="http://schemas.microsoft.com/office/drawing/2014/main" id="{37A3F742-AAF9-BD01-B5BE-6306E0C4663D}"/>
                </a:ext>
              </a:extLst>
            </p:cNvPr>
            <p:cNvSpPr txBox="1"/>
            <p:nvPr/>
          </p:nvSpPr>
          <p:spPr>
            <a:xfrm>
              <a:off x="5188688" y="3800873"/>
              <a:ext cx="1628571" cy="276999"/>
            </a:xfrm>
            <a:prstGeom prst="rect">
              <a:avLst/>
            </a:prstGeom>
            <a:noFill/>
          </p:spPr>
          <p:txBody>
            <a:bodyPr wrap="square" rtlCol="0">
              <a:spAutoFit/>
            </a:bodyPr>
            <a:lstStyle/>
            <a:p>
              <a:r>
                <a:rPr lang="en-US" sz="1200" dirty="0">
                  <a:solidFill>
                    <a:schemeClr val="bg1"/>
                  </a:solidFill>
                  <a:latin typeface="Arial" panose="020B0604020202020204" pitchFamily="34" charset="0"/>
                  <a:cs typeface="Arial" panose="020B0604020202020204" pitchFamily="34" charset="0"/>
                </a:rPr>
                <a:t>Le </a:t>
              </a:r>
              <a:r>
                <a:rPr lang="en-US" sz="1200" dirty="0" err="1">
                  <a:solidFill>
                    <a:schemeClr val="bg1"/>
                  </a:solidFill>
                  <a:latin typeface="Arial" panose="020B0604020202020204" pitchFamily="34" charset="0"/>
                  <a:cs typeface="Arial" panose="020B0604020202020204" pitchFamily="34" charset="0"/>
                </a:rPr>
                <a:t>Becq</a:t>
              </a:r>
              <a:r>
                <a:rPr lang="en-US" sz="1200" dirty="0">
                  <a:solidFill>
                    <a:schemeClr val="bg1"/>
                  </a:solidFill>
                  <a:latin typeface="Arial" panose="020B0604020202020204" pitchFamily="34" charset="0"/>
                  <a:cs typeface="Arial" panose="020B0604020202020204" pitchFamily="34" charset="0"/>
                </a:rPr>
                <a:t> et al. (2025)</a:t>
              </a:r>
            </a:p>
          </p:txBody>
        </p:sp>
      </p:grpSp>
    </p:spTree>
    <p:extLst>
      <p:ext uri="{BB962C8B-B14F-4D97-AF65-F5344CB8AC3E}">
        <p14:creationId xmlns:p14="http://schemas.microsoft.com/office/powerpoint/2010/main" val="1230055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8F9CF-7A79-5B1B-9D15-72ECD180BC77}"/>
              </a:ext>
            </a:extLst>
          </p:cNvPr>
          <p:cNvSpPr>
            <a:spLocks noGrp="1"/>
          </p:cNvSpPr>
          <p:nvPr>
            <p:ph type="title"/>
          </p:nvPr>
        </p:nvSpPr>
        <p:spPr/>
        <p:txBody>
          <a:bodyPr/>
          <a:lstStyle/>
          <a:p>
            <a:r>
              <a:rPr lang="en-US" dirty="0" err="1"/>
              <a:t>Geomorpohology</a:t>
            </a:r>
            <a:endParaRPr lang="en-US" dirty="0"/>
          </a:p>
        </p:txBody>
      </p:sp>
      <p:sp>
        <p:nvSpPr>
          <p:cNvPr id="3" name="Content Placeholder 2">
            <a:extLst>
              <a:ext uri="{FF2B5EF4-FFF2-40B4-BE49-F238E27FC236}">
                <a16:creationId xmlns:a16="http://schemas.microsoft.com/office/drawing/2014/main" id="{7F23B16F-D628-660F-0B56-DEA1695A2095}"/>
              </a:ext>
            </a:extLst>
          </p:cNvPr>
          <p:cNvSpPr>
            <a:spLocks noGrp="1"/>
          </p:cNvSpPr>
          <p:nvPr>
            <p:ph idx="1"/>
          </p:nvPr>
        </p:nvSpPr>
        <p:spPr/>
        <p:txBody>
          <a:bodyPr/>
          <a:lstStyle/>
          <a:p>
            <a:r>
              <a:rPr lang="en-US" sz="2800" b="0" i="0" u="none" strike="noStrike" dirty="0">
                <a:solidFill>
                  <a:srgbClr val="FF0000"/>
                </a:solidFill>
                <a:effectLst/>
                <a:latin typeface="Arial" panose="020B0604020202020204" pitchFamily="34" charset="0"/>
              </a:rPr>
              <a:t>We also survey ridge morphology using HiRISE data to look for patterns in number and spacing of ridges</a:t>
            </a:r>
            <a:endParaRPr lang="en-US" dirty="0"/>
          </a:p>
        </p:txBody>
      </p:sp>
      <p:sp>
        <p:nvSpPr>
          <p:cNvPr id="4" name="Footer Placeholder 3">
            <a:extLst>
              <a:ext uri="{FF2B5EF4-FFF2-40B4-BE49-F238E27FC236}">
                <a16:creationId xmlns:a16="http://schemas.microsoft.com/office/drawing/2014/main" id="{9EF41C0E-2ED8-6B13-57CE-2430D36C9313}"/>
              </a:ext>
            </a:extLst>
          </p:cNvPr>
          <p:cNvSpPr>
            <a:spLocks noGrp="1"/>
          </p:cNvSpPr>
          <p:nvPr>
            <p:ph type="ftr" sz="quarter" idx="11"/>
          </p:nvPr>
        </p:nvSpPr>
        <p:spPr/>
        <p:txBody>
          <a:bodyPr/>
          <a:lstStyle/>
          <a:p>
            <a:r>
              <a:rPr lang="en-US"/>
              <a:t>Ali M. Bramson (BramsonA@purdue.edu)  •   Title   •   AGU 2025 New Orleans   •   Date</a:t>
            </a:r>
            <a:endParaRPr lang="en-US" dirty="0"/>
          </a:p>
        </p:txBody>
      </p:sp>
      <p:sp>
        <p:nvSpPr>
          <p:cNvPr id="5" name="TextBox 4">
            <a:extLst>
              <a:ext uri="{FF2B5EF4-FFF2-40B4-BE49-F238E27FC236}">
                <a16:creationId xmlns:a16="http://schemas.microsoft.com/office/drawing/2014/main" id="{B4571112-27C0-604F-0770-CE32A218D120}"/>
              </a:ext>
            </a:extLst>
          </p:cNvPr>
          <p:cNvSpPr txBox="1"/>
          <p:nvPr/>
        </p:nvSpPr>
        <p:spPr>
          <a:xfrm>
            <a:off x="3530009" y="4231758"/>
            <a:ext cx="2998382" cy="1200329"/>
          </a:xfrm>
          <a:prstGeom prst="rect">
            <a:avLst/>
          </a:prstGeom>
          <a:noFill/>
          <a:ln>
            <a:solidFill>
              <a:srgbClr val="FF0000"/>
            </a:solidFill>
          </a:ln>
        </p:spPr>
        <p:txBody>
          <a:bodyPr wrap="square" rtlCol="0">
            <a:spAutoFit/>
          </a:bodyPr>
          <a:lstStyle/>
          <a:p>
            <a:r>
              <a:rPr lang="en-US" dirty="0"/>
              <a:t>Does </a:t>
            </a:r>
            <a:r>
              <a:rPr lang="en-US" dirty="0" err="1"/>
              <a:t>laura</a:t>
            </a:r>
            <a:r>
              <a:rPr lang="en-US" dirty="0"/>
              <a:t> have any good planar view mappings of the ridges, maybe for multiple scarps?</a:t>
            </a:r>
          </a:p>
        </p:txBody>
      </p:sp>
    </p:spTree>
    <p:extLst>
      <p:ext uri="{BB962C8B-B14F-4D97-AF65-F5344CB8AC3E}">
        <p14:creationId xmlns:p14="http://schemas.microsoft.com/office/powerpoint/2010/main" val="4142369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A962B-C88F-BE43-BC1F-CE7018B2E63D}"/>
              </a:ext>
            </a:extLst>
          </p:cNvPr>
          <p:cNvSpPr txBox="1">
            <a:spLocks/>
          </p:cNvSpPr>
          <p:nvPr/>
        </p:nvSpPr>
        <p:spPr>
          <a:xfrm>
            <a:off x="1524000" y="130349"/>
            <a:ext cx="9144000" cy="635771"/>
          </a:xfrm>
          <a:prstGeom prst="rect">
            <a:avLst/>
          </a:prstGeom>
        </p:spPr>
        <p:txBody>
          <a:bodyPr/>
          <a:lstStyle>
            <a:lvl1pPr algn="ctr" defTabSz="914400" rtl="0" eaLnBrk="1" latinLnBrk="0" hangingPunct="1">
              <a:lnSpc>
                <a:spcPct val="90000"/>
              </a:lnSpc>
              <a:spcBef>
                <a:spcPct val="0"/>
              </a:spcBef>
              <a:buNone/>
              <a:defRPr sz="4000" kern="1200">
                <a:solidFill>
                  <a:schemeClr val="tx1"/>
                </a:solidFill>
                <a:latin typeface="Helvetica" charset="0"/>
                <a:ea typeface="Helvetica" charset="0"/>
                <a:cs typeface="Helvetica" charset="0"/>
              </a:defRPr>
            </a:lvl1pPr>
          </a:lstStyle>
          <a:p>
            <a:r>
              <a:rPr lang="en-US" dirty="0">
                <a:latin typeface="Arial Regular"/>
                <a:cs typeface="Arial" panose="020B0604020202020204" pitchFamily="34" charset="0"/>
              </a:rPr>
              <a:t>Thermal modeling of Mid-Latitude Ice</a:t>
            </a:r>
          </a:p>
        </p:txBody>
      </p:sp>
      <p:sp>
        <p:nvSpPr>
          <p:cNvPr id="9" name="Rectangle 8">
            <a:extLst>
              <a:ext uri="{FF2B5EF4-FFF2-40B4-BE49-F238E27FC236}">
                <a16:creationId xmlns:a16="http://schemas.microsoft.com/office/drawing/2014/main" id="{FD2E1DE9-28E8-4A46-88BC-25C8A80433B5}"/>
              </a:ext>
            </a:extLst>
          </p:cNvPr>
          <p:cNvSpPr>
            <a:spLocks noChangeArrowheads="1"/>
          </p:cNvSpPr>
          <p:nvPr/>
        </p:nvSpPr>
        <p:spPr bwMode="auto">
          <a:xfrm>
            <a:off x="300368" y="1426502"/>
            <a:ext cx="5308215" cy="2246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charset="0"/>
              <a:buChar char="•"/>
            </a:pPr>
            <a:r>
              <a:rPr lang="en-US" altLang="en-US" sz="2800" dirty="0">
                <a:latin typeface="Arial Regular"/>
                <a:ea typeface="Helvetica" charset="0"/>
                <a:cs typeface="Sarabun" pitchFamily="2" charset="-34"/>
              </a:rPr>
              <a:t>1-D semi-implicit Crank-Nicholson</a:t>
            </a:r>
          </a:p>
          <a:p>
            <a:pPr marL="285750" indent="-285750" eaLnBrk="0" fontAlgn="base" hangingPunct="0">
              <a:spcBef>
                <a:spcPct val="0"/>
              </a:spcBef>
              <a:spcAft>
                <a:spcPct val="0"/>
              </a:spcAft>
              <a:buFont typeface="Arial" charset="0"/>
              <a:buChar char="•"/>
            </a:pPr>
            <a:r>
              <a:rPr lang="en-US" altLang="en-US" sz="2800" dirty="0">
                <a:latin typeface="Arial Regular"/>
                <a:ea typeface="Helvetica" charset="0"/>
                <a:cs typeface="Sarabun" pitchFamily="2" charset="-34"/>
              </a:rPr>
              <a:t>2 to 3 layer model</a:t>
            </a:r>
          </a:p>
          <a:p>
            <a:pPr marL="285750" indent="-285750" eaLnBrk="0" fontAlgn="base" hangingPunct="0">
              <a:spcBef>
                <a:spcPct val="0"/>
              </a:spcBef>
              <a:spcAft>
                <a:spcPct val="0"/>
              </a:spcAft>
              <a:buFont typeface="Arial" charset="0"/>
              <a:buChar char="•"/>
            </a:pPr>
            <a:r>
              <a:rPr lang="en-US" altLang="en-US" sz="2800" dirty="0">
                <a:latin typeface="Arial Regular"/>
                <a:ea typeface="Helvetica" charset="0"/>
                <a:cs typeface="Sarabun" pitchFamily="2" charset="-34"/>
              </a:rPr>
              <a:t>Infinite ice sheet below lag deposit</a:t>
            </a:r>
          </a:p>
        </p:txBody>
      </p:sp>
      <p:sp>
        <p:nvSpPr>
          <p:cNvPr id="10" name="TextBox 9">
            <a:extLst>
              <a:ext uri="{FF2B5EF4-FFF2-40B4-BE49-F238E27FC236}">
                <a16:creationId xmlns:a16="http://schemas.microsoft.com/office/drawing/2014/main" id="{BACF3A08-AB27-8E47-8EE7-9FA9F459CB1A}"/>
              </a:ext>
            </a:extLst>
          </p:cNvPr>
          <p:cNvSpPr txBox="1"/>
          <p:nvPr/>
        </p:nvSpPr>
        <p:spPr>
          <a:xfrm>
            <a:off x="452846" y="4031588"/>
            <a:ext cx="4963885" cy="2246769"/>
          </a:xfrm>
          <a:prstGeom prst="rect">
            <a:avLst/>
          </a:prstGeom>
          <a:noFill/>
          <a:ln>
            <a:noFill/>
          </a:ln>
        </p:spPr>
        <p:txBody>
          <a:bodyPr wrap="square" rtlCol="0">
            <a:spAutoFit/>
          </a:bodyPr>
          <a:lstStyle/>
          <a:p>
            <a:pPr algn="ctr"/>
            <a:r>
              <a:rPr lang="en-US" sz="2800" dirty="0">
                <a:latin typeface="Arial Regular"/>
                <a:ea typeface="Helvetica" charset="0"/>
                <a:cs typeface="Sarabun" pitchFamily="2" charset="-34"/>
              </a:rPr>
              <a:t>Calculate loss from the excess ice layer to address if periodic variations in sublimation could be related to the observed ridges</a:t>
            </a:r>
          </a:p>
        </p:txBody>
      </p:sp>
      <p:pic>
        <p:nvPicPr>
          <p:cNvPr id="11" name="Picture 10">
            <a:extLst>
              <a:ext uri="{FF2B5EF4-FFF2-40B4-BE49-F238E27FC236}">
                <a16:creationId xmlns:a16="http://schemas.microsoft.com/office/drawing/2014/main" id="{F90C0C1C-610F-3642-96E3-F62A6F6A82DE}"/>
              </a:ext>
            </a:extLst>
          </p:cNvPr>
          <p:cNvPicPr>
            <a:picLocks noChangeAspect="1"/>
          </p:cNvPicPr>
          <p:nvPr/>
        </p:nvPicPr>
        <p:blipFill rotWithShape="1">
          <a:blip r:embed="rId3">
            <a:extLst>
              <a:ext uri="{28A0092B-C50C-407E-A947-70E740481C1C}">
                <a14:useLocalDpi xmlns:a14="http://schemas.microsoft.com/office/drawing/2010/main" val="0"/>
              </a:ext>
            </a:extLst>
          </a:blip>
          <a:srcRect l="23144" t="2864" r="32522" b="2263"/>
          <a:stretch/>
        </p:blipFill>
        <p:spPr>
          <a:xfrm>
            <a:off x="7278358" y="1120083"/>
            <a:ext cx="2807390" cy="5006398"/>
          </a:xfrm>
          <a:prstGeom prst="rect">
            <a:avLst/>
          </a:prstGeom>
          <a:solidFill>
            <a:schemeClr val="tx1"/>
          </a:solidFill>
        </p:spPr>
      </p:pic>
      <p:sp>
        <p:nvSpPr>
          <p:cNvPr id="13" name="TextBox 12">
            <a:extLst>
              <a:ext uri="{FF2B5EF4-FFF2-40B4-BE49-F238E27FC236}">
                <a16:creationId xmlns:a16="http://schemas.microsoft.com/office/drawing/2014/main" id="{B7EC9312-8476-934E-9147-DE8531B405C0}"/>
              </a:ext>
            </a:extLst>
          </p:cNvPr>
          <p:cNvSpPr txBox="1"/>
          <p:nvPr/>
        </p:nvSpPr>
        <p:spPr>
          <a:xfrm>
            <a:off x="5634147" y="1136125"/>
            <a:ext cx="1596912" cy="707886"/>
          </a:xfrm>
          <a:prstGeom prst="rect">
            <a:avLst/>
          </a:prstGeom>
          <a:noFill/>
        </p:spPr>
        <p:txBody>
          <a:bodyPr wrap="none" rtlCol="0">
            <a:spAutoFit/>
          </a:bodyPr>
          <a:lstStyle/>
          <a:p>
            <a:pPr algn="ctr"/>
            <a:r>
              <a:rPr lang="en-US" sz="2000" dirty="0">
                <a:latin typeface="Arial Regular"/>
              </a:rPr>
              <a:t>Dry Regolith</a:t>
            </a:r>
            <a:br>
              <a:rPr lang="en-US" sz="2000" dirty="0">
                <a:latin typeface="Arial Regular"/>
              </a:rPr>
            </a:br>
            <a:r>
              <a:rPr lang="en-US" sz="2000" dirty="0">
                <a:latin typeface="Arial Regular"/>
              </a:rPr>
              <a:t>(“lag”)</a:t>
            </a:r>
          </a:p>
        </p:txBody>
      </p:sp>
      <p:sp>
        <p:nvSpPr>
          <p:cNvPr id="14" name="TextBox 13">
            <a:extLst>
              <a:ext uri="{FF2B5EF4-FFF2-40B4-BE49-F238E27FC236}">
                <a16:creationId xmlns:a16="http://schemas.microsoft.com/office/drawing/2014/main" id="{D02AA8F3-A5A3-9E4A-AA19-441E580A2E57}"/>
              </a:ext>
            </a:extLst>
          </p:cNvPr>
          <p:cNvSpPr txBox="1"/>
          <p:nvPr/>
        </p:nvSpPr>
        <p:spPr>
          <a:xfrm>
            <a:off x="5594426" y="2114866"/>
            <a:ext cx="1667444" cy="707886"/>
          </a:xfrm>
          <a:prstGeom prst="rect">
            <a:avLst/>
          </a:prstGeom>
          <a:noFill/>
        </p:spPr>
        <p:txBody>
          <a:bodyPr wrap="none" rtlCol="0">
            <a:spAutoFit/>
          </a:bodyPr>
          <a:lstStyle/>
          <a:p>
            <a:pPr algn="ctr"/>
            <a:r>
              <a:rPr lang="en-US" sz="2000" dirty="0">
                <a:latin typeface="Arial Regular"/>
              </a:rPr>
              <a:t>Pore-filling</a:t>
            </a:r>
            <a:br>
              <a:rPr lang="en-US" sz="2000" dirty="0">
                <a:latin typeface="Arial Regular"/>
              </a:rPr>
            </a:br>
            <a:r>
              <a:rPr lang="en-US" sz="2000" dirty="0">
                <a:latin typeface="Arial Regular"/>
              </a:rPr>
              <a:t>Ice within lag</a:t>
            </a:r>
          </a:p>
        </p:txBody>
      </p:sp>
      <p:sp>
        <p:nvSpPr>
          <p:cNvPr id="15" name="TextBox 14">
            <a:extLst>
              <a:ext uri="{FF2B5EF4-FFF2-40B4-BE49-F238E27FC236}">
                <a16:creationId xmlns:a16="http://schemas.microsoft.com/office/drawing/2014/main" id="{901BB9C4-2C35-6A4F-B8F0-8AAA04DADA95}"/>
              </a:ext>
            </a:extLst>
          </p:cNvPr>
          <p:cNvSpPr txBox="1"/>
          <p:nvPr/>
        </p:nvSpPr>
        <p:spPr>
          <a:xfrm>
            <a:off x="5829463" y="4104158"/>
            <a:ext cx="1423788" cy="707886"/>
          </a:xfrm>
          <a:prstGeom prst="rect">
            <a:avLst/>
          </a:prstGeom>
          <a:noFill/>
        </p:spPr>
        <p:txBody>
          <a:bodyPr wrap="none" rtlCol="0">
            <a:spAutoFit/>
          </a:bodyPr>
          <a:lstStyle/>
          <a:p>
            <a:pPr algn="ctr"/>
            <a:r>
              <a:rPr lang="en-US" sz="2000" dirty="0">
                <a:latin typeface="Arial Regular"/>
              </a:rPr>
              <a:t>Excess Ice</a:t>
            </a:r>
            <a:br>
              <a:rPr lang="en-US" sz="2000" dirty="0">
                <a:latin typeface="Arial Regular"/>
              </a:rPr>
            </a:br>
            <a:r>
              <a:rPr lang="en-US" sz="2000" dirty="0">
                <a:latin typeface="Arial Regular"/>
              </a:rPr>
              <a:t>Sheet</a:t>
            </a:r>
          </a:p>
        </p:txBody>
      </p:sp>
      <p:sp>
        <p:nvSpPr>
          <p:cNvPr id="16" name="TextBox 15">
            <a:extLst>
              <a:ext uri="{FF2B5EF4-FFF2-40B4-BE49-F238E27FC236}">
                <a16:creationId xmlns:a16="http://schemas.microsoft.com/office/drawing/2014/main" id="{28C448CF-8643-8A41-A391-7D12DE3DB362}"/>
              </a:ext>
            </a:extLst>
          </p:cNvPr>
          <p:cNvSpPr txBox="1"/>
          <p:nvPr/>
        </p:nvSpPr>
        <p:spPr>
          <a:xfrm>
            <a:off x="10292165" y="889250"/>
            <a:ext cx="1920719" cy="461665"/>
          </a:xfrm>
          <a:prstGeom prst="rect">
            <a:avLst/>
          </a:prstGeom>
          <a:noFill/>
        </p:spPr>
        <p:txBody>
          <a:bodyPr wrap="none" rtlCol="0">
            <a:spAutoFit/>
          </a:bodyPr>
          <a:lstStyle/>
          <a:p>
            <a:pPr algn="ctr"/>
            <a:r>
              <a:rPr lang="en-US" sz="2400" dirty="0">
                <a:latin typeface="Arial Regular"/>
              </a:rPr>
              <a:t>Surface, z=0</a:t>
            </a:r>
          </a:p>
        </p:txBody>
      </p:sp>
      <p:sp>
        <p:nvSpPr>
          <p:cNvPr id="17" name="TextBox 16">
            <a:extLst>
              <a:ext uri="{FF2B5EF4-FFF2-40B4-BE49-F238E27FC236}">
                <a16:creationId xmlns:a16="http://schemas.microsoft.com/office/drawing/2014/main" id="{585693FE-F49B-D640-8A60-F3F89E8B67D1}"/>
              </a:ext>
            </a:extLst>
          </p:cNvPr>
          <p:cNvSpPr txBox="1"/>
          <p:nvPr/>
        </p:nvSpPr>
        <p:spPr>
          <a:xfrm>
            <a:off x="10400335" y="1468515"/>
            <a:ext cx="1707519" cy="830997"/>
          </a:xfrm>
          <a:prstGeom prst="rect">
            <a:avLst/>
          </a:prstGeom>
          <a:noFill/>
        </p:spPr>
        <p:txBody>
          <a:bodyPr wrap="none" rtlCol="0">
            <a:spAutoFit/>
          </a:bodyPr>
          <a:lstStyle/>
          <a:p>
            <a:r>
              <a:rPr lang="en-US" sz="2400" dirty="0">
                <a:latin typeface="Arial Regular"/>
              </a:rPr>
              <a:t>Ice stability</a:t>
            </a:r>
            <a:br>
              <a:rPr lang="en-US" sz="2400" dirty="0">
                <a:latin typeface="Arial Regular"/>
              </a:rPr>
            </a:br>
            <a:r>
              <a:rPr lang="en-US" sz="2400" dirty="0">
                <a:latin typeface="Arial Regular"/>
              </a:rPr>
              <a:t>depth, </a:t>
            </a:r>
            <a:r>
              <a:rPr lang="en-US" sz="2400" dirty="0" err="1">
                <a:latin typeface="Arial Regular"/>
              </a:rPr>
              <a:t>z</a:t>
            </a:r>
            <a:r>
              <a:rPr lang="en-US" sz="2400" baseline="-25000" dirty="0" err="1">
                <a:latin typeface="Arial Regular"/>
              </a:rPr>
              <a:t>i</a:t>
            </a:r>
            <a:endParaRPr lang="en-US" sz="2400" baseline="-25000" dirty="0">
              <a:latin typeface="Arial Regular"/>
            </a:endParaRPr>
          </a:p>
        </p:txBody>
      </p:sp>
      <p:sp>
        <p:nvSpPr>
          <p:cNvPr id="18" name="TextBox 17">
            <a:extLst>
              <a:ext uri="{FF2B5EF4-FFF2-40B4-BE49-F238E27FC236}">
                <a16:creationId xmlns:a16="http://schemas.microsoft.com/office/drawing/2014/main" id="{A8776761-C578-8543-A379-7668F88951BC}"/>
              </a:ext>
            </a:extLst>
          </p:cNvPr>
          <p:cNvSpPr txBox="1"/>
          <p:nvPr/>
        </p:nvSpPr>
        <p:spPr>
          <a:xfrm>
            <a:off x="10400335" y="2468809"/>
            <a:ext cx="1838965" cy="830997"/>
          </a:xfrm>
          <a:prstGeom prst="rect">
            <a:avLst/>
          </a:prstGeom>
          <a:noFill/>
        </p:spPr>
        <p:txBody>
          <a:bodyPr wrap="none" rtlCol="0">
            <a:spAutoFit/>
          </a:bodyPr>
          <a:lstStyle/>
          <a:p>
            <a:r>
              <a:rPr lang="en-US" sz="2400" dirty="0">
                <a:latin typeface="Arial Regular"/>
              </a:rPr>
              <a:t>Excess ice</a:t>
            </a:r>
            <a:br>
              <a:rPr lang="en-US" sz="2400" dirty="0">
                <a:latin typeface="Arial Regular"/>
              </a:rPr>
            </a:br>
            <a:r>
              <a:rPr lang="en-US" sz="2400" dirty="0">
                <a:latin typeface="Arial Regular"/>
              </a:rPr>
              <a:t>interface, </a:t>
            </a:r>
            <a:r>
              <a:rPr lang="en-US" sz="2400" dirty="0" err="1">
                <a:latin typeface="Arial Regular"/>
              </a:rPr>
              <a:t>z</a:t>
            </a:r>
            <a:r>
              <a:rPr lang="en-US" sz="2400" baseline="-25000" dirty="0" err="1">
                <a:latin typeface="Arial Regular"/>
              </a:rPr>
              <a:t>ei</a:t>
            </a:r>
            <a:endParaRPr lang="en-US" sz="2400" baseline="-25000" dirty="0">
              <a:latin typeface="Arial Regular"/>
            </a:endParaRPr>
          </a:p>
        </p:txBody>
      </p:sp>
      <p:sp>
        <p:nvSpPr>
          <p:cNvPr id="19" name="TextBox 18">
            <a:extLst>
              <a:ext uri="{FF2B5EF4-FFF2-40B4-BE49-F238E27FC236}">
                <a16:creationId xmlns:a16="http://schemas.microsoft.com/office/drawing/2014/main" id="{9B61FC3E-1C3A-3040-842E-AC1FDB1105D0}"/>
              </a:ext>
            </a:extLst>
          </p:cNvPr>
          <p:cNvSpPr txBox="1"/>
          <p:nvPr/>
        </p:nvSpPr>
        <p:spPr>
          <a:xfrm>
            <a:off x="10142523" y="3284935"/>
            <a:ext cx="364203" cy="523220"/>
          </a:xfrm>
          <a:prstGeom prst="rect">
            <a:avLst/>
          </a:prstGeom>
          <a:noFill/>
        </p:spPr>
        <p:txBody>
          <a:bodyPr wrap="none" rtlCol="0">
            <a:spAutoFit/>
          </a:bodyPr>
          <a:lstStyle/>
          <a:p>
            <a:pPr algn="ctr"/>
            <a:r>
              <a:rPr lang="en-US" sz="2800" dirty="0">
                <a:latin typeface="Arial Regular"/>
              </a:rPr>
              <a:t>z</a:t>
            </a:r>
            <a:endParaRPr lang="en-US" sz="2800" baseline="-25000" dirty="0">
              <a:latin typeface="Arial Regular"/>
            </a:endParaRPr>
          </a:p>
        </p:txBody>
      </p:sp>
      <p:cxnSp>
        <p:nvCxnSpPr>
          <p:cNvPr id="21" name="Straight Arrow Connector 20">
            <a:extLst>
              <a:ext uri="{FF2B5EF4-FFF2-40B4-BE49-F238E27FC236}">
                <a16:creationId xmlns:a16="http://schemas.microsoft.com/office/drawing/2014/main" id="{81601BDB-20C2-8B43-976A-5E24F040864A}"/>
              </a:ext>
            </a:extLst>
          </p:cNvPr>
          <p:cNvCxnSpPr/>
          <p:nvPr/>
        </p:nvCxnSpPr>
        <p:spPr>
          <a:xfrm>
            <a:off x="10313633" y="1152166"/>
            <a:ext cx="0" cy="225933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F2F8F4BC-7656-D811-EC60-F222B5184F73}"/>
              </a:ext>
            </a:extLst>
          </p:cNvPr>
          <p:cNvSpPr>
            <a:spLocks noGrp="1"/>
          </p:cNvSpPr>
          <p:nvPr>
            <p:ph type="ftr" sz="quarter" idx="11"/>
          </p:nvPr>
        </p:nvSpPr>
        <p:spPr/>
        <p:txBody>
          <a:bodyPr/>
          <a:lstStyle/>
          <a:p>
            <a:r>
              <a:rPr lang="en-US"/>
              <a:t>Ali M. Bramson (BramsonA@purdue.edu)  •   Title   •   AGU 2025 New Orleans   •   Date</a:t>
            </a:r>
            <a:endParaRPr lang="en-US" dirty="0"/>
          </a:p>
        </p:txBody>
      </p:sp>
    </p:spTree>
    <p:extLst>
      <p:ext uri="{BB962C8B-B14F-4D97-AF65-F5344CB8AC3E}">
        <p14:creationId xmlns:p14="http://schemas.microsoft.com/office/powerpoint/2010/main" val="300748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8B7E-2E6E-4DD7-D74A-43C0900FDB00}"/>
              </a:ext>
            </a:extLst>
          </p:cNvPr>
          <p:cNvSpPr>
            <a:spLocks noGrp="1"/>
          </p:cNvSpPr>
          <p:nvPr>
            <p:ph type="title"/>
          </p:nvPr>
        </p:nvSpPr>
        <p:spPr/>
        <p:txBody>
          <a:bodyPr>
            <a:normAutofit/>
          </a:bodyPr>
          <a:lstStyle/>
          <a:p>
            <a:r>
              <a:rPr lang="en-US" dirty="0">
                <a:solidFill>
                  <a:srgbClr val="FF0000"/>
                </a:solidFill>
              </a:rPr>
              <a:t>Results</a:t>
            </a:r>
          </a:p>
        </p:txBody>
      </p:sp>
      <p:sp>
        <p:nvSpPr>
          <p:cNvPr id="3" name="Content Placeholder 2">
            <a:extLst>
              <a:ext uri="{FF2B5EF4-FFF2-40B4-BE49-F238E27FC236}">
                <a16:creationId xmlns:a16="http://schemas.microsoft.com/office/drawing/2014/main" id="{5A9F269E-20C8-2447-F79D-EF27CF462FB4}"/>
              </a:ext>
            </a:extLst>
          </p:cNvPr>
          <p:cNvSpPr>
            <a:spLocks noGrp="1"/>
          </p:cNvSpPr>
          <p:nvPr>
            <p:ph idx="1"/>
          </p:nvPr>
        </p:nvSpPr>
        <p:spPr>
          <a:xfrm>
            <a:off x="161276" y="1450428"/>
            <a:ext cx="4680690" cy="4813738"/>
          </a:xfrm>
        </p:spPr>
        <p:txBody>
          <a:bodyPr/>
          <a:lstStyle/>
          <a:p>
            <a:r>
              <a:rPr lang="en-US" dirty="0"/>
              <a:t>These features must be young (~0.5 Myr) if formed by retreat of scarp retreat. </a:t>
            </a:r>
          </a:p>
          <a:p>
            <a:pPr lvl="1"/>
            <a:r>
              <a:rPr lang="en-US" b="0" i="0" u="none" strike="noStrike" dirty="0">
                <a:effectLst/>
                <a:latin typeface="Arial" panose="020B0604020202020204" pitchFamily="34" charset="0"/>
              </a:rPr>
              <a:t>Younger tha</a:t>
            </a:r>
            <a:r>
              <a:rPr lang="en-US" dirty="0"/>
              <a:t>n </a:t>
            </a:r>
            <a:r>
              <a:rPr lang="en-US" b="0" i="0" u="none" strike="noStrike" dirty="0">
                <a:effectLst/>
                <a:latin typeface="Arial" panose="020B0604020202020204" pitchFamily="34" charset="0"/>
              </a:rPr>
              <a:t>the 2.6 Myr timescale previously proposed (Williams et al. 2022) </a:t>
            </a:r>
          </a:p>
        </p:txBody>
      </p:sp>
      <p:sp>
        <p:nvSpPr>
          <p:cNvPr id="4" name="Footer Placeholder 3">
            <a:extLst>
              <a:ext uri="{FF2B5EF4-FFF2-40B4-BE49-F238E27FC236}">
                <a16:creationId xmlns:a16="http://schemas.microsoft.com/office/drawing/2014/main" id="{10399313-A08E-B007-A3A3-DA0E42A82737}"/>
              </a:ext>
            </a:extLst>
          </p:cNvPr>
          <p:cNvSpPr>
            <a:spLocks noGrp="1"/>
          </p:cNvSpPr>
          <p:nvPr>
            <p:ph type="ftr" sz="quarter" idx="11"/>
          </p:nvPr>
        </p:nvSpPr>
        <p:spPr/>
        <p:txBody>
          <a:bodyPr/>
          <a:lstStyle/>
          <a:p>
            <a:r>
              <a:rPr lang="en-US"/>
              <a:t>Ali M. Bramson (BramsonA@purdue.edu)  •   Title   •   AGU 2025 New Orleans   •   Date</a:t>
            </a:r>
            <a:endParaRPr lang="en-US" dirty="0"/>
          </a:p>
        </p:txBody>
      </p:sp>
      <p:pic>
        <p:nvPicPr>
          <p:cNvPr id="5" name="Picture 4">
            <a:extLst>
              <a:ext uri="{FF2B5EF4-FFF2-40B4-BE49-F238E27FC236}">
                <a16:creationId xmlns:a16="http://schemas.microsoft.com/office/drawing/2014/main" id="{26F05D5B-0C5F-C091-2960-DDA4797505D7}"/>
              </a:ext>
            </a:extLst>
          </p:cNvPr>
          <p:cNvPicPr>
            <a:picLocks noChangeAspect="1"/>
          </p:cNvPicPr>
          <p:nvPr/>
        </p:nvPicPr>
        <p:blipFill>
          <a:blip r:embed="rId3"/>
          <a:stretch>
            <a:fillRect/>
          </a:stretch>
        </p:blipFill>
        <p:spPr>
          <a:xfrm>
            <a:off x="5068390" y="1450428"/>
            <a:ext cx="6962332" cy="3578833"/>
          </a:xfrm>
          <a:prstGeom prst="rect">
            <a:avLst/>
          </a:prstGeom>
        </p:spPr>
      </p:pic>
    </p:spTree>
    <p:extLst>
      <p:ext uri="{BB962C8B-B14F-4D97-AF65-F5344CB8AC3E}">
        <p14:creationId xmlns:p14="http://schemas.microsoft.com/office/powerpoint/2010/main" val="1965248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8B7E-2E6E-4DD7-D74A-43C0900FDB00}"/>
              </a:ext>
            </a:extLst>
          </p:cNvPr>
          <p:cNvSpPr>
            <a:spLocks noGrp="1"/>
          </p:cNvSpPr>
          <p:nvPr>
            <p:ph type="title"/>
          </p:nvPr>
        </p:nvSpPr>
        <p:spPr/>
        <p:txBody>
          <a:bodyPr>
            <a:normAutofit/>
          </a:bodyPr>
          <a:lstStyle/>
          <a:p>
            <a:r>
              <a:rPr lang="en-US" dirty="0">
                <a:solidFill>
                  <a:srgbClr val="FF0000"/>
                </a:solidFill>
              </a:rPr>
              <a:t>Results</a:t>
            </a:r>
          </a:p>
        </p:txBody>
      </p:sp>
      <p:sp>
        <p:nvSpPr>
          <p:cNvPr id="3" name="Content Placeholder 2">
            <a:extLst>
              <a:ext uri="{FF2B5EF4-FFF2-40B4-BE49-F238E27FC236}">
                <a16:creationId xmlns:a16="http://schemas.microsoft.com/office/drawing/2014/main" id="{5A9F269E-20C8-2447-F79D-EF27CF462FB4}"/>
              </a:ext>
            </a:extLst>
          </p:cNvPr>
          <p:cNvSpPr>
            <a:spLocks noGrp="1"/>
          </p:cNvSpPr>
          <p:nvPr>
            <p:ph idx="1"/>
          </p:nvPr>
        </p:nvSpPr>
        <p:spPr>
          <a:xfrm>
            <a:off x="161276" y="1450428"/>
            <a:ext cx="4680690" cy="4813738"/>
          </a:xfrm>
        </p:spPr>
        <p:txBody>
          <a:bodyPr/>
          <a:lstStyle/>
          <a:p>
            <a:r>
              <a:rPr lang="en-US" dirty="0"/>
              <a:t>These features must be young (~0.5 Myr) if formed by retreat of scarp retreat. </a:t>
            </a:r>
          </a:p>
          <a:p>
            <a:pPr lvl="1"/>
            <a:r>
              <a:rPr lang="en-US" b="0" i="0" u="none" strike="noStrike" dirty="0">
                <a:effectLst/>
                <a:latin typeface="Arial" panose="020B0604020202020204" pitchFamily="34" charset="0"/>
              </a:rPr>
              <a:t>Younger tha</a:t>
            </a:r>
            <a:r>
              <a:rPr lang="en-US" dirty="0"/>
              <a:t>n </a:t>
            </a:r>
            <a:r>
              <a:rPr lang="en-US" b="0" i="0" u="none" strike="noStrike" dirty="0">
                <a:effectLst/>
                <a:latin typeface="Arial" panose="020B0604020202020204" pitchFamily="34" charset="0"/>
              </a:rPr>
              <a:t>the 2.6 Myr timescale previously proposed (Williams et al. 2022) </a:t>
            </a:r>
          </a:p>
          <a:p>
            <a:r>
              <a:rPr lang="en-US" sz="2800" b="0" i="0" u="none" strike="noStrike" dirty="0">
                <a:effectLst/>
                <a:latin typeface="Arial" panose="020B0604020202020204" pitchFamily="34" charset="0"/>
              </a:rPr>
              <a:t>5 inflections in sublimation rates, which is similar to the number of observed ridges</a:t>
            </a:r>
            <a:endParaRPr lang="en-US" dirty="0"/>
          </a:p>
          <a:p>
            <a:endParaRPr lang="en-US" b="0" i="0" u="none" strike="noStrike" dirty="0">
              <a:effectLst/>
              <a:latin typeface="Arial" panose="020B0604020202020204" pitchFamily="34" charset="0"/>
            </a:endParaRPr>
          </a:p>
        </p:txBody>
      </p:sp>
      <p:sp>
        <p:nvSpPr>
          <p:cNvPr id="4" name="Footer Placeholder 3">
            <a:extLst>
              <a:ext uri="{FF2B5EF4-FFF2-40B4-BE49-F238E27FC236}">
                <a16:creationId xmlns:a16="http://schemas.microsoft.com/office/drawing/2014/main" id="{10399313-A08E-B007-A3A3-DA0E42A82737}"/>
              </a:ext>
            </a:extLst>
          </p:cNvPr>
          <p:cNvSpPr>
            <a:spLocks noGrp="1"/>
          </p:cNvSpPr>
          <p:nvPr>
            <p:ph type="ftr" sz="quarter" idx="11"/>
          </p:nvPr>
        </p:nvSpPr>
        <p:spPr/>
        <p:txBody>
          <a:bodyPr/>
          <a:lstStyle/>
          <a:p>
            <a:r>
              <a:rPr lang="en-US"/>
              <a:t>Ali M. Bramson (BramsonA@purdue.edu)  •   Title   •   AGU 2025 New Orleans   •   Date</a:t>
            </a:r>
            <a:endParaRPr lang="en-US" dirty="0"/>
          </a:p>
        </p:txBody>
      </p:sp>
      <p:pic>
        <p:nvPicPr>
          <p:cNvPr id="6" name="Picture 5">
            <a:extLst>
              <a:ext uri="{FF2B5EF4-FFF2-40B4-BE49-F238E27FC236}">
                <a16:creationId xmlns:a16="http://schemas.microsoft.com/office/drawing/2014/main" id="{39750B77-9831-A7E4-D3CF-62833783DF22}"/>
              </a:ext>
            </a:extLst>
          </p:cNvPr>
          <p:cNvPicPr>
            <a:picLocks noChangeAspect="1"/>
          </p:cNvPicPr>
          <p:nvPr/>
        </p:nvPicPr>
        <p:blipFill>
          <a:blip r:embed="rId3"/>
          <a:stretch>
            <a:fillRect/>
          </a:stretch>
        </p:blipFill>
        <p:spPr>
          <a:xfrm>
            <a:off x="4920343" y="2350805"/>
            <a:ext cx="7110379" cy="3913361"/>
          </a:xfrm>
          <a:prstGeom prst="rect">
            <a:avLst/>
          </a:prstGeom>
        </p:spPr>
      </p:pic>
    </p:spTree>
    <p:extLst>
      <p:ext uri="{BB962C8B-B14F-4D97-AF65-F5344CB8AC3E}">
        <p14:creationId xmlns:p14="http://schemas.microsoft.com/office/powerpoint/2010/main" val="3097607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C0909-2619-CA32-B3DA-A749B56C3C4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37DDA09D-A667-A1CC-BC5B-0F4F6FCF9C57}"/>
              </a:ext>
            </a:extLst>
          </p:cNvPr>
          <p:cNvSpPr>
            <a:spLocks noGrp="1"/>
          </p:cNvSpPr>
          <p:nvPr>
            <p:ph idx="1"/>
          </p:nvPr>
        </p:nvSpPr>
        <p:spPr/>
        <p:txBody>
          <a:bodyPr/>
          <a:lstStyle/>
          <a:p>
            <a:r>
              <a:rPr lang="en-US" sz="2800" b="0" i="0" u="none" strike="noStrike" dirty="0">
                <a:solidFill>
                  <a:srgbClr val="FF0000"/>
                </a:solidFill>
                <a:effectLst/>
                <a:latin typeface="Arial" panose="020B0604020202020204" pitchFamily="34" charset="0"/>
              </a:rPr>
              <a:t>Deciphering the climate record that is stored in ice deposits is key for unlocking new understandings of planetary climate systems.</a:t>
            </a:r>
          </a:p>
          <a:p>
            <a:r>
              <a:rPr lang="en-US" sz="2800" b="0" i="0" u="none" strike="noStrike" dirty="0">
                <a:solidFill>
                  <a:srgbClr val="FF0000"/>
                </a:solidFill>
                <a:effectLst/>
                <a:latin typeface="Arial" panose="020B0604020202020204" pitchFamily="34" charset="0"/>
              </a:rPr>
              <a:t>Our work provides a method to constrain the age of formation of each ridge, and advocates for the scarps as venues for understanding climate change on Mars on timescales directly analogous to Earth’s Quaternary glacial-interglacial periods.</a:t>
            </a:r>
            <a:endParaRPr lang="en-US" b="0" dirty="0">
              <a:solidFill>
                <a:srgbClr val="FF0000"/>
              </a:solidFill>
              <a:effectLst/>
            </a:endParaRPr>
          </a:p>
          <a:p>
            <a:endParaRPr lang="en-US" dirty="0"/>
          </a:p>
        </p:txBody>
      </p:sp>
      <p:sp>
        <p:nvSpPr>
          <p:cNvPr id="4" name="Footer Placeholder 3">
            <a:extLst>
              <a:ext uri="{FF2B5EF4-FFF2-40B4-BE49-F238E27FC236}">
                <a16:creationId xmlns:a16="http://schemas.microsoft.com/office/drawing/2014/main" id="{119278EF-71A7-B019-2C47-1B31049F101F}"/>
              </a:ext>
            </a:extLst>
          </p:cNvPr>
          <p:cNvSpPr>
            <a:spLocks noGrp="1"/>
          </p:cNvSpPr>
          <p:nvPr>
            <p:ph type="ftr" sz="quarter" idx="11"/>
          </p:nvPr>
        </p:nvSpPr>
        <p:spPr/>
        <p:txBody>
          <a:bodyPr/>
          <a:lstStyle/>
          <a:p>
            <a:r>
              <a:rPr lang="en-US"/>
              <a:t>Ali M. Bramson (BramsonA@purdue.edu)  •   Title   •   AGU 2025 New Orleans   •   Date</a:t>
            </a:r>
            <a:endParaRPr lang="en-US" dirty="0"/>
          </a:p>
        </p:txBody>
      </p:sp>
    </p:spTree>
    <p:extLst>
      <p:ext uri="{BB962C8B-B14F-4D97-AF65-F5344CB8AC3E}">
        <p14:creationId xmlns:p14="http://schemas.microsoft.com/office/powerpoint/2010/main" val="23808377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26668B3A-7F07-7C41-9B2C-BC797CCE7527}" vid="{2386DCFF-DF42-7B4C-BC18-F828ACD540F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242</TotalTime>
  <Words>662</Words>
  <Application>Microsoft Macintosh PowerPoint</Application>
  <PresentationFormat>Widescreen</PresentationFormat>
  <Paragraphs>69</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Regular</vt:lpstr>
      <vt:lpstr>Calibri</vt:lpstr>
      <vt:lpstr>Verdana</vt:lpstr>
      <vt:lpstr>Office Theme</vt:lpstr>
      <vt:lpstr>Ages of Mars’ Mid-Latitude Ice Exposing Scarps and Relating Ridge Morphology to Climate Cycles</vt:lpstr>
      <vt:lpstr>Orbital Variations Drive Climate </vt:lpstr>
      <vt:lpstr>Ice deposits are widespread across Mars’ midlatitudes</vt:lpstr>
      <vt:lpstr>Ice-exposing scarps</vt:lpstr>
      <vt:lpstr>Geomorpohology</vt:lpstr>
      <vt:lpstr>PowerPoint Presentation</vt:lpstr>
      <vt:lpstr>Results</vt:lpstr>
      <vt:lpstr>Results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dc:creator>Kristen Laferriere</dc:creator>
  <cp:lastModifiedBy>Kristen Laferriere</cp:lastModifiedBy>
  <cp:revision>4</cp:revision>
  <dcterms:created xsi:type="dcterms:W3CDTF">2025-12-12T17:38:10Z</dcterms:created>
  <dcterms:modified xsi:type="dcterms:W3CDTF">2025-12-12T21:40:21Z</dcterms:modified>
</cp:coreProperties>
</file>